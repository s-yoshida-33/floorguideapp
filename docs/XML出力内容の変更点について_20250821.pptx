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2.xml" ContentType="application/vnd.openxmlformats-officedocument.customXmlProperti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3.xml" ContentType="application/vnd.openxmlformats-officedocument.customXmlProperties+xml"/>
  <Override PartName="/customXml/itemProps1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58" r:id="rId5"/>
    <p:sldId id="257" r:id="rId6"/>
    <p:sldId id="259" r:id="rId7"/>
    <p:sldId id="266" r:id="rId8"/>
    <p:sldId id="265" r:id="rId9"/>
    <p:sldId id="269" r:id="rId10"/>
    <p:sldId id="267" r:id="rId11"/>
    <p:sldId id="268" r:id="rId12"/>
    <p:sldId id="264" r:id="rId13"/>
  </p:sldIdLst>
  <p:sldSz cx="12192000" cy="6858000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ＭＳ Ｐゴシック" panose="020B0600070205080204" pitchFamily="50" charset="-128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ＭＳ Ｐゴシック" panose="020B0600070205080204" pitchFamily="50" charset="-128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ＭＳ Ｐゴシック" panose="020B0600070205080204" pitchFamily="50" charset="-128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ＭＳ Ｐゴシック" panose="020B0600070205080204" pitchFamily="50" charset="-128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ＭＳ Ｐゴシック" panose="020B0600070205080204" pitchFamily="50" charset="-128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ＭＳ Ｐゴシック" panose="020B0600070205080204" pitchFamily="50" charset="-128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ＭＳ Ｐゴシック" panose="020B0600070205080204" pitchFamily="50" charset="-128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ＭＳ Ｐゴシック" panose="020B0600070205080204" pitchFamily="50" charset="-128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ＭＳ Ｐゴシック" panose="020B0600070205080204" pitchFamily="50" charset="-128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CDFF"/>
    <a:srgbClr val="B31D8D"/>
    <a:srgbClr val="FFEBAB"/>
    <a:srgbClr val="00A1E0"/>
    <a:srgbClr val="D5F3FF"/>
    <a:srgbClr val="00ADEF"/>
    <a:srgbClr val="B0DD7F"/>
    <a:srgbClr val="51F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CCF447-C1A5-BAC2-7E48-BE2BD0C45371}" v="92" dt="2025-08-07T03:30:58.6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01" autoAdjust="0"/>
    <p:restoredTop sz="96111" autoAdjust="0"/>
  </p:normalViewPr>
  <p:slideViewPr>
    <p:cSldViewPr snapToGrid="0">
      <p:cViewPr varScale="1">
        <p:scale>
          <a:sx n="173" d="100"/>
          <a:sy n="173" d="100"/>
        </p:scale>
        <p:origin x="22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openxmlformats.org/officeDocument/2006/relationships/customXml" Target="../customXml/item4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D0537D6-01B8-43E8-AB7E-DF96EB304D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1CEF8D3-B329-48BA-A2AD-AFFC866B8C0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2DE2819-D404-4E2E-9785-361F18987051}" type="datetimeFigureOut">
              <a:rPr lang="ja-JP" altLang="en-US"/>
              <a:pPr>
                <a:defRPr/>
              </a:pPr>
              <a:t>2025/8/20</a:t>
            </a:fld>
            <a:endParaRPr lang="ja-JP" altLang="en-US"/>
          </a:p>
        </p:txBody>
      </p:sp>
      <p:sp>
        <p:nvSpPr>
          <p:cNvPr id="4" name="スライド イメージ プレースホルダー 3">
            <a:extLst>
              <a:ext uri="{FF2B5EF4-FFF2-40B4-BE49-F238E27FC236}">
                <a16:creationId xmlns:a16="http://schemas.microsoft.com/office/drawing/2014/main" id="{ED141AC4-2873-4317-B017-70839F50B3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1C93631C-D078-40DA-8FAD-59EAEABE92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F8CD27-C0E0-4D0D-A56F-CE0D1DEDF7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C42CF8-A017-4EF8-ABBF-D606DC14C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1104BA4-7DD2-42A0-85E8-B4B66ECB47B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28B2B5AB-B29D-4660-8AC7-C4DE3ACBDB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7772" cy="6858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BD51499-5D8B-47D3-A3D2-807ABAB573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188641"/>
            <a:ext cx="1294920" cy="117720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C5B65BD-104B-4E34-993C-DA6F5D99AB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516" y="5013176"/>
            <a:ext cx="2224279" cy="163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B70A02DB-D696-43D1-A45C-BF428BC5E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3445" y="2637284"/>
            <a:ext cx="9970955" cy="613352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0000CC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6526C6E-AB27-4B49-A432-AD219219FC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3446" y="3356993"/>
            <a:ext cx="10012668" cy="427037"/>
          </a:xfrm>
        </p:spPr>
        <p:txBody>
          <a:bodyPr/>
          <a:lstStyle>
            <a:lvl1pPr marL="0" indent="0" algn="l">
              <a:buNone/>
              <a:defRPr sz="2400" b="1"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サブタイトルを入力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902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891" indent="-342891">
              <a:buFont typeface="Wingdings" panose="05000000000000000000" pitchFamily="2" charset="2"/>
              <a:buChar char="n"/>
              <a:defRPr b="1"/>
            </a:lvl1pPr>
            <a:lvl2pPr marL="742932" indent="-285744">
              <a:buFont typeface="Meiryo UI" panose="020B0604030504040204" pitchFamily="50" charset="-128"/>
              <a:buChar char="•"/>
              <a:defRPr/>
            </a:lvl2pPr>
            <a:lvl3pPr marL="1142971" indent="-228594">
              <a:buFont typeface="Meiryo UI" panose="020B0604030504040204" pitchFamily="50" charset="-128"/>
              <a:buChar char="–"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DE6E8B3-49BE-43DD-98AD-89AADCA7CA2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A0F17-61B9-46F1-B180-5B498D837F48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51904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30497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392B027F-B143-405A-8844-0D2C8FF8F5AC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0" y="0"/>
            <a:ext cx="12192000" cy="8367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026" name="Rectangle 3">
            <a:extLst>
              <a:ext uri="{FF2B5EF4-FFF2-40B4-BE49-F238E27FC236}">
                <a16:creationId xmlns:a16="http://schemas.microsoft.com/office/drawing/2014/main" id="{890265A9-4747-4CFB-8F26-882A04D43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1326" y="188913"/>
            <a:ext cx="10139365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4">
            <a:extLst>
              <a:ext uri="{FF2B5EF4-FFF2-40B4-BE49-F238E27FC236}">
                <a16:creationId xmlns:a16="http://schemas.microsoft.com/office/drawing/2014/main" id="{DEAD0155-2E49-46C6-820C-998EC5EB8F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17345" y="981076"/>
            <a:ext cx="11757313" cy="568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93836CF1-33FF-46C3-9CE1-84F95B1DEB4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29856" y="6364287"/>
            <a:ext cx="2844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 b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>
              <a:defRPr/>
            </a:pPr>
            <a:fld id="{73E27872-262F-4692-B2EF-2F0261BC947C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6021F70-7ACB-4378-BDC7-A01822DBB675}"/>
              </a:ext>
            </a:extLst>
          </p:cNvPr>
          <p:cNvCxnSpPr/>
          <p:nvPr userDrawn="1"/>
        </p:nvCxnSpPr>
        <p:spPr bwMode="auto">
          <a:xfrm>
            <a:off x="0" y="836712"/>
            <a:ext cx="12192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B41E8E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図 7">
            <a:extLst>
              <a:ext uri="{FF2B5EF4-FFF2-40B4-BE49-F238E27FC236}">
                <a16:creationId xmlns:a16="http://schemas.microsoft.com/office/drawing/2014/main" id="{75B47BA4-4DF4-4E18-ACEB-8D7D840016A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351" y="116634"/>
            <a:ext cx="964323" cy="5777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6" r:id="rId2"/>
    <p:sldLayoutId id="2147483688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741363" indent="-284163" algn="l" rtl="0" eaLnBrk="1" fontAlgn="base" hangingPunct="1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</a:defRPr>
      </a:lvl2pPr>
      <a:lvl3pPr marL="1141413" indent="-227013" algn="l" rtl="0" eaLnBrk="1" fontAlgn="base" hangingPunct="1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</a:defRPr>
      </a:lvl3pPr>
      <a:lvl4pPr marL="1598613" indent="-227013" algn="l" rtl="0" eaLnBrk="1" fontAlgn="base" hangingPunct="1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</a:defRPr>
      </a:lvl4pPr>
      <a:lvl5pPr marL="2055813" indent="-227013" algn="l" rtl="0" eaLnBrk="1" fontAlgn="base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73C766C4-041D-4C4D-A412-5D66626BC4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CMS</a:t>
            </a:r>
            <a:r>
              <a:rPr lang="ja-JP" altLang="en-US"/>
              <a:t>切替における</a:t>
            </a:r>
            <a:r>
              <a:rPr lang="en-US" altLang="ja-JP" dirty="0"/>
              <a:t>XML</a:t>
            </a:r>
            <a:r>
              <a:rPr lang="ja-JP" altLang="en-US"/>
              <a:t>出力内容の変更点について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2609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>
            <a:extLst>
              <a:ext uri="{FF2B5EF4-FFF2-40B4-BE49-F238E27FC236}">
                <a16:creationId xmlns:a16="http://schemas.microsoft.com/office/drawing/2014/main" id="{45E766ED-B9DA-40CB-BB0E-DA44206C2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dirty="0"/>
              <a:t>CMS</a:t>
            </a:r>
            <a:r>
              <a:rPr lang="ja-JP" altLang="en-US"/>
              <a:t>切替における</a:t>
            </a:r>
            <a:r>
              <a:rPr lang="en-US" altLang="ja-JP" dirty="0"/>
              <a:t>XML</a:t>
            </a:r>
            <a:r>
              <a:rPr lang="ja-JP" altLang="en-US"/>
              <a:t>出力内容の変更点について</a:t>
            </a:r>
            <a:endParaRPr lang="ja-JP" altLang="en-US" dirty="0"/>
          </a:p>
        </p:txBody>
      </p:sp>
      <p:sp>
        <p:nvSpPr>
          <p:cNvPr id="6147" name="コンテンツ プレースホルダー 2">
            <a:extLst>
              <a:ext uri="{FF2B5EF4-FFF2-40B4-BE49-F238E27FC236}">
                <a16:creationId xmlns:a16="http://schemas.microsoft.com/office/drawing/2014/main" id="{04256105-4ED6-4109-93D3-84C01ADAE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1313" indent="-341313"/>
            <a:r>
              <a:rPr lang="ja-JP" altLang="en-US" b="0" dirty="0"/>
              <a:t>新</a:t>
            </a:r>
            <a:r>
              <a:rPr lang="en-US" altLang="ja-JP" b="0" dirty="0"/>
              <a:t>CMS</a:t>
            </a:r>
            <a:r>
              <a:rPr lang="ja-JP" altLang="en-US" b="0" dirty="0"/>
              <a:t>から出力される値と現行</a:t>
            </a:r>
            <a:r>
              <a:rPr lang="en-US" altLang="ja-JP" b="0" dirty="0"/>
              <a:t>CMS</a:t>
            </a:r>
            <a:r>
              <a:rPr lang="ja-JP" altLang="en-US" b="0" dirty="0"/>
              <a:t>から出力される値の変更点</a:t>
            </a:r>
            <a:r>
              <a:rPr lang="ja-JP" altLang="en-US" b="0"/>
              <a:t>について、以下の</a:t>
            </a:r>
            <a:r>
              <a:rPr lang="en-US" altLang="ja-JP" b="0" dirty="0"/>
              <a:t>5</a:t>
            </a:r>
            <a:r>
              <a:rPr lang="ja-JP" altLang="en-US" b="0"/>
              <a:t>パラメータに関する詳細を、次</a:t>
            </a:r>
            <a:r>
              <a:rPr lang="ja-JP" altLang="en-US" b="0" dirty="0"/>
              <a:t>スライド以降に記載</a:t>
            </a:r>
            <a:endParaRPr lang="en-US" altLang="ja-JP" b="0" dirty="0"/>
          </a:p>
          <a:p>
            <a:pPr marL="0" indent="0">
              <a:buNone/>
            </a:pPr>
            <a:endParaRPr lang="en-US" altLang="ja-JP" b="0" dirty="0"/>
          </a:p>
          <a:p>
            <a:pPr marL="0" indent="0">
              <a:buNone/>
            </a:pPr>
            <a:r>
              <a:rPr lang="ja-JP" altLang="en-US" b="0" dirty="0"/>
              <a:t>   ①テナントカテゴリ</a:t>
            </a:r>
            <a:r>
              <a:rPr lang="en-US" altLang="ja-JP" b="0" dirty="0"/>
              <a:t>(</a:t>
            </a:r>
            <a:r>
              <a:rPr lang="ja-JP" altLang="en-US" b="0" dirty="0"/>
              <a:t>旧ショップジャンル</a:t>
            </a:r>
            <a:r>
              <a:rPr lang="en-US" altLang="ja-JP" b="0" dirty="0"/>
              <a:t>)</a:t>
            </a:r>
            <a:r>
              <a:rPr lang="ja-JP" altLang="en-US" b="0" dirty="0"/>
              <a:t>の変更・統一</a:t>
            </a:r>
            <a:endParaRPr lang="en-US" altLang="ja-JP" b="0" dirty="0"/>
          </a:p>
          <a:p>
            <a:pPr marL="0" indent="0">
              <a:buNone/>
            </a:pPr>
            <a:r>
              <a:rPr lang="ja-JP" altLang="en-US" b="0" dirty="0"/>
              <a:t>   ②オプション</a:t>
            </a:r>
            <a:r>
              <a:rPr lang="en-US" altLang="ja-JP" b="0" dirty="0"/>
              <a:t>(options)</a:t>
            </a:r>
            <a:r>
              <a:rPr lang="ja-JP" altLang="en-US" b="0" dirty="0"/>
              <a:t>の変更・統一</a:t>
            </a:r>
            <a:endParaRPr lang="en-US" altLang="ja-JP" b="0" dirty="0"/>
          </a:p>
          <a:p>
            <a:pPr marL="0" indent="0">
              <a:buNone/>
            </a:pPr>
            <a:r>
              <a:rPr lang="ja-JP" altLang="en-US" b="0"/>
              <a:t>   </a:t>
            </a:r>
            <a:r>
              <a:rPr lang="en-US" altLang="ja-JP" b="0" dirty="0"/>
              <a:t>③</a:t>
            </a:r>
            <a:r>
              <a:rPr lang="ja-JP" altLang="en-US" b="0"/>
              <a:t>イベントニュースカテゴリの変更・統一</a:t>
            </a:r>
            <a:endParaRPr lang="en-US" altLang="ja-JP" b="0" dirty="0"/>
          </a:p>
          <a:p>
            <a:pPr marL="0" indent="0">
              <a:buNone/>
            </a:pPr>
            <a:r>
              <a:rPr lang="en-US" altLang="ja-JP" b="0" dirty="0"/>
              <a:t>   ④</a:t>
            </a:r>
            <a:r>
              <a:rPr lang="ja-JP" altLang="en-US" b="0"/>
              <a:t>ショップニュースカテゴリの変更・統一</a:t>
            </a:r>
            <a:endParaRPr lang="en-US" altLang="ja-JP" b="0" dirty="0"/>
          </a:p>
          <a:p>
            <a:pPr marL="0" indent="0">
              <a:buNone/>
            </a:pPr>
            <a:r>
              <a:rPr lang="en-US" altLang="ja-JP" b="0" dirty="0"/>
              <a:t>   ⑤</a:t>
            </a:r>
            <a:r>
              <a:rPr lang="ja-JP" altLang="en-US" b="0"/>
              <a:t>モールエリアの変更はなし</a:t>
            </a:r>
            <a:br>
              <a:rPr lang="en-US" altLang="ja-JP" b="0" dirty="0"/>
            </a:br>
            <a:br>
              <a:rPr lang="en-US" altLang="ja-JP" b="0" dirty="0"/>
            </a:br>
            <a:r>
              <a:rPr lang="en-US" altLang="ja-JP" b="0" dirty="0"/>
              <a:t>   ※XML</a:t>
            </a:r>
            <a:r>
              <a:rPr lang="ja-JP" altLang="en-US" b="0" dirty="0"/>
              <a:t>の出力項目（出力構造）の変更はなし</a:t>
            </a:r>
            <a:endParaRPr lang="en-US" altLang="ja-JP" b="0" dirty="0"/>
          </a:p>
        </p:txBody>
      </p:sp>
      <p:sp>
        <p:nvSpPr>
          <p:cNvPr id="6148" name="スライド番号プレースホルダー 3">
            <a:extLst>
              <a:ext uri="{FF2B5EF4-FFF2-40B4-BE49-F238E27FC236}">
                <a16:creationId xmlns:a16="http://schemas.microsoft.com/office/drawing/2014/main" id="{9177D319-EE53-4467-9D8E-3F7F1B6DA0A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ABF78BA-0DBB-4932-9A16-FCDC448B537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2FB1D-6C83-3FA1-AFA2-CBC608CEE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>
            <a:extLst>
              <a:ext uri="{FF2B5EF4-FFF2-40B4-BE49-F238E27FC236}">
                <a16:creationId xmlns:a16="http://schemas.microsoft.com/office/drawing/2014/main" id="{07557A37-5661-7DD2-F401-3C87B43DDC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/>
              <a:t>①テナントカテゴリ</a:t>
            </a:r>
            <a:r>
              <a:rPr lang="en-US" altLang="ja-JP" dirty="0"/>
              <a:t>(</a:t>
            </a:r>
            <a:r>
              <a:rPr lang="ja-JP" altLang="en-US" dirty="0"/>
              <a:t>旧ショップジャンル</a:t>
            </a:r>
            <a:r>
              <a:rPr lang="en-US" altLang="ja-JP" dirty="0"/>
              <a:t>)</a:t>
            </a:r>
            <a:r>
              <a:rPr lang="ja-JP" altLang="en-US" dirty="0"/>
              <a:t>の変更・統一</a:t>
            </a:r>
          </a:p>
        </p:txBody>
      </p:sp>
      <p:sp>
        <p:nvSpPr>
          <p:cNvPr id="6148" name="スライド番号プレースホルダー 3">
            <a:extLst>
              <a:ext uri="{FF2B5EF4-FFF2-40B4-BE49-F238E27FC236}">
                <a16:creationId xmlns:a16="http://schemas.microsoft.com/office/drawing/2014/main" id="{44A2A76F-830F-8F03-31F4-00A9725B19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ABF78BA-0DBB-4932-9A16-FCDC448B537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7BE39A8-7013-1B5C-A4FC-E8B1BD683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326" y="1029054"/>
            <a:ext cx="11449306" cy="1188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  <a:lvl6pPr marL="45718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9143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marL="285750" indent="-285750">
              <a:buFont typeface="Wingdings" pitchFamily="2" charset="2"/>
              <a:buChar char="l"/>
            </a:pPr>
            <a:r>
              <a:rPr lang="ja-JP" altLang="en-US" sz="1600" kern="0"/>
              <a:t>現行</a:t>
            </a:r>
            <a:r>
              <a:rPr lang="en-US" altLang="ja-JP" sz="1600" kern="0" dirty="0"/>
              <a:t>CMS</a:t>
            </a:r>
            <a:r>
              <a:rPr lang="ja-JP" altLang="en-US" sz="1600" kern="0"/>
              <a:t>では</a:t>
            </a:r>
            <a:r>
              <a:rPr lang="ja-JP" altLang="en-US" sz="1600" b="1" kern="0"/>
              <a:t>モール毎にショップジャンルを定義</a:t>
            </a:r>
            <a:r>
              <a:rPr lang="ja-JP" altLang="en-US" sz="1600" kern="0"/>
              <a:t>していたが、新</a:t>
            </a:r>
            <a:r>
              <a:rPr lang="en-US" altLang="ja-JP" sz="1600" kern="0" dirty="0"/>
              <a:t>CMS</a:t>
            </a:r>
            <a:r>
              <a:rPr lang="ja-JP" altLang="en-US" sz="1600" kern="0"/>
              <a:t>では</a:t>
            </a:r>
            <a:r>
              <a:rPr lang="ja-JP" altLang="en-US" sz="1600" b="1" kern="0"/>
              <a:t>全モール共通のカテゴリ</a:t>
            </a:r>
            <a:r>
              <a:rPr lang="ja-JP" altLang="en-US" sz="1600" kern="0"/>
              <a:t>に変更となる</a:t>
            </a:r>
            <a:endParaRPr lang="en-US" altLang="ja-JP" sz="1600" kern="0" dirty="0"/>
          </a:p>
          <a:p>
            <a:pPr marL="285750" indent="-285750">
              <a:buFont typeface="Wingdings" pitchFamily="2" charset="2"/>
              <a:buChar char="l"/>
            </a:pPr>
            <a:r>
              <a:rPr lang="ja-JP" altLang="en-US" sz="1600" kern="0"/>
              <a:t>新</a:t>
            </a:r>
            <a:r>
              <a:rPr lang="en-US" altLang="ja-JP" sz="1600" kern="0" dirty="0"/>
              <a:t>CMS</a:t>
            </a:r>
            <a:r>
              <a:rPr lang="ja-JP" altLang="en-US" sz="1600" kern="0"/>
              <a:t>では階層構造が採用されており、各テナントには、以下ショップ、グルメのカテゴリ内から割り当てられる</a:t>
            </a:r>
            <a:endParaRPr lang="en-US" altLang="ja-JP" sz="1600" kern="0" dirty="0"/>
          </a:p>
          <a:p>
            <a:pPr marL="285750" indent="-285750">
              <a:buFont typeface="Wingdings" pitchFamily="2" charset="2"/>
              <a:buChar char="l"/>
            </a:pPr>
            <a:r>
              <a:rPr lang="ja-JP" altLang="en-US" sz="1600" kern="0"/>
              <a:t>現行のショップ情報を新</a:t>
            </a:r>
            <a:r>
              <a:rPr lang="en-US" altLang="ja-JP" sz="1600" kern="0" dirty="0"/>
              <a:t>CMS</a:t>
            </a:r>
            <a:r>
              <a:rPr lang="ja-JP" altLang="en-US" sz="1600" kern="0"/>
              <a:t>に移行する際に、既存のジャンルを新</a:t>
            </a:r>
            <a:r>
              <a:rPr lang="en-US" altLang="ja-JP" sz="1600" kern="0" dirty="0"/>
              <a:t>CMS</a:t>
            </a:r>
            <a:r>
              <a:rPr lang="ja-JP" altLang="en-US" sz="1600" kern="0"/>
              <a:t>のカテゴリにマッピングする</a:t>
            </a:r>
            <a:endParaRPr lang="en-US" altLang="ja-JP" sz="1600" kern="0" dirty="0"/>
          </a:p>
          <a:p>
            <a:pPr marL="285750" indent="-285750">
              <a:buFont typeface="Wingdings" pitchFamily="2" charset="2"/>
              <a:buChar char="l"/>
            </a:pPr>
            <a:r>
              <a:rPr lang="ja-JP" altLang="en-US" sz="1600" kern="0"/>
              <a:t>グルメカテゴリの場合は</a:t>
            </a:r>
            <a:r>
              <a:rPr lang="en-US" altLang="ja-JP" sz="1600" kern="0" dirty="0"/>
              <a:t>1</a:t>
            </a:r>
            <a:r>
              <a:rPr lang="ja-JP" altLang="en-US" sz="1600" kern="0"/>
              <a:t>階層目の「グルメ」をジャンルに、</a:t>
            </a:r>
            <a:r>
              <a:rPr lang="en-US" altLang="ja-JP" sz="1600" kern="0" dirty="0"/>
              <a:t>2</a:t>
            </a:r>
            <a:r>
              <a:rPr lang="ja-JP" altLang="en-US" sz="1600" kern="0"/>
              <a:t>階層目の各カテゴリ</a:t>
            </a:r>
            <a:r>
              <a:rPr lang="en-US" altLang="ja-JP" sz="1600" kern="0" dirty="0"/>
              <a:t>(</a:t>
            </a:r>
            <a:r>
              <a:rPr lang="ja-JP" altLang="en-US" sz="1600" kern="0"/>
              <a:t>フードコート、カフェ等）をサブジャンルに出力する</a:t>
            </a:r>
            <a:endParaRPr lang="en-US" altLang="ja-JP" sz="1600" kern="0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66E7E19E-7655-A5AB-9CC0-300F86542C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333971"/>
              </p:ext>
            </p:extLst>
          </p:nvPr>
        </p:nvGraphicFramePr>
        <p:xfrm>
          <a:off x="598146" y="2451303"/>
          <a:ext cx="3531511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623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2367888">
                  <a:extLst>
                    <a:ext uri="{9D8B030D-6E8A-4147-A177-3AD203B41FA5}">
                      <a16:colId xmlns:a16="http://schemas.microsoft.com/office/drawing/2014/main" val="4091198854"/>
                    </a:ext>
                  </a:extLst>
                </a:gridCol>
              </a:tblGrid>
              <a:tr h="180863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新</a:t>
                      </a:r>
                      <a:r>
                        <a:rPr kumimoji="1" lang="en-US" altLang="ja-JP" sz="1000" dirty="0">
                          <a:solidFill>
                            <a:schemeClr val="tx1"/>
                          </a:solidFill>
                        </a:rPr>
                        <a:t>CMS</a:t>
                      </a:r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のテナントカテゴリ（現行</a:t>
                      </a:r>
                      <a:r>
                        <a:rPr kumimoji="1" lang="en-US" altLang="ja-JP" sz="1000" dirty="0">
                          <a:solidFill>
                            <a:schemeClr val="tx1"/>
                          </a:solidFill>
                        </a:rPr>
                        <a:t>CMS</a:t>
                      </a:r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のショップジャンル）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180863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ショップ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180863">
                <a:tc>
                  <a:txBody>
                    <a:bodyPr/>
                    <a:lstStyle/>
                    <a:p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ファッション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180863">
                <a:tc>
                  <a:txBody>
                    <a:bodyPr/>
                    <a:lstStyle/>
                    <a:p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グッズ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180863">
                <a:tc>
                  <a:txBody>
                    <a:bodyPr/>
                    <a:lstStyle/>
                    <a:p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スポーツ＆アウトドア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180863">
                <a:tc>
                  <a:txBody>
                    <a:bodyPr/>
                    <a:lstStyle/>
                    <a:p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サービス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  <a:tr h="180863">
                <a:tc>
                  <a:txBody>
                    <a:bodyPr/>
                    <a:lstStyle/>
                    <a:p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クリニック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486365"/>
                  </a:ext>
                </a:extLst>
              </a:tr>
              <a:tr h="180863">
                <a:tc>
                  <a:txBody>
                    <a:bodyPr/>
                    <a:lstStyle/>
                    <a:p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エンターテイメント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882805"/>
                  </a:ext>
                </a:extLst>
              </a:tr>
              <a:tr h="180863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グルメ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486735"/>
                  </a:ext>
                </a:extLst>
              </a:tr>
              <a:tr h="180863">
                <a:tc>
                  <a:txBody>
                    <a:bodyPr/>
                    <a:lstStyle/>
                    <a:p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フードコート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932339"/>
                  </a:ext>
                </a:extLst>
              </a:tr>
              <a:tr h="180863">
                <a:tc>
                  <a:txBody>
                    <a:bodyPr/>
                    <a:lstStyle/>
                    <a:p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レストラン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45201"/>
                  </a:ext>
                </a:extLst>
              </a:tr>
              <a:tr h="180863">
                <a:tc>
                  <a:txBody>
                    <a:bodyPr/>
                    <a:lstStyle/>
                    <a:p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カフェ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903114"/>
                  </a:ext>
                </a:extLst>
              </a:tr>
              <a:tr h="180863">
                <a:tc>
                  <a:txBody>
                    <a:bodyPr/>
                    <a:lstStyle/>
                    <a:p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スイーツ</a:t>
                      </a:r>
                      <a:r>
                        <a:rPr kumimoji="1" lang="en-US" altLang="ja-JP" sz="1000" dirty="0"/>
                        <a:t>/</a:t>
                      </a:r>
                      <a:r>
                        <a:rPr kumimoji="1" lang="ja-JP" altLang="en-US" sz="1000"/>
                        <a:t>その他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8533"/>
                  </a:ext>
                </a:extLst>
              </a:tr>
            </a:tbl>
          </a:graphicData>
        </a:graphic>
      </p:graphicFrame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3277296-A941-C982-C681-739200FD93E5}"/>
              </a:ext>
            </a:extLst>
          </p:cNvPr>
          <p:cNvSpPr/>
          <p:nvPr/>
        </p:nvSpPr>
        <p:spPr>
          <a:xfrm>
            <a:off x="1777209" y="2949255"/>
            <a:ext cx="2352448" cy="14294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dirty="0"/>
          </a:p>
        </p:txBody>
      </p:sp>
      <p:sp>
        <p:nvSpPr>
          <p:cNvPr id="7" name="四角形吹き出し 6">
            <a:extLst>
              <a:ext uri="{FF2B5EF4-FFF2-40B4-BE49-F238E27FC236}">
                <a16:creationId xmlns:a16="http://schemas.microsoft.com/office/drawing/2014/main" id="{BB1AF6E4-E39C-93E0-A40A-25F60EDDF105}"/>
              </a:ext>
            </a:extLst>
          </p:cNvPr>
          <p:cNvSpPr/>
          <p:nvPr/>
        </p:nvSpPr>
        <p:spPr>
          <a:xfrm>
            <a:off x="4668069" y="2751292"/>
            <a:ext cx="2859156" cy="888602"/>
          </a:xfrm>
          <a:prstGeom prst="wedgeRectCallout">
            <a:avLst>
              <a:gd name="adj1" fmla="val -70631"/>
              <a:gd name="adj2" fmla="val 40671"/>
            </a:avLst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400"/>
              <a:t>新</a:t>
            </a:r>
            <a:r>
              <a:rPr kumimoji="1" lang="en-US" altLang="ja-JP" sz="1400" dirty="0"/>
              <a:t>CMS</a:t>
            </a:r>
            <a:r>
              <a:rPr kumimoji="1" lang="ja-JP" altLang="en-US" sz="1400"/>
              <a:t>では階層構造でテナントカテゴリを管理しており、各テナントには赤枠内のカテゴリが設定される</a:t>
            </a:r>
            <a:endParaRPr kumimoji="1" lang="ja-JP" altLang="en-US" sz="14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0F1F4C5-AEE7-E77B-7106-93533897E3FC}"/>
              </a:ext>
            </a:extLst>
          </p:cNvPr>
          <p:cNvSpPr/>
          <p:nvPr/>
        </p:nvSpPr>
        <p:spPr>
          <a:xfrm>
            <a:off x="600985" y="4378713"/>
            <a:ext cx="1176224" cy="2336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BB88576-6C68-6290-DDE5-CC1380B47D10}"/>
              </a:ext>
            </a:extLst>
          </p:cNvPr>
          <p:cNvSpPr/>
          <p:nvPr/>
        </p:nvSpPr>
        <p:spPr>
          <a:xfrm>
            <a:off x="1775788" y="4628139"/>
            <a:ext cx="2352447" cy="97821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dirty="0"/>
          </a:p>
        </p:txBody>
      </p:sp>
      <p:sp>
        <p:nvSpPr>
          <p:cNvPr id="8" name="四角形吹き出し 7">
            <a:extLst>
              <a:ext uri="{FF2B5EF4-FFF2-40B4-BE49-F238E27FC236}">
                <a16:creationId xmlns:a16="http://schemas.microsoft.com/office/drawing/2014/main" id="{4B747C2B-55CC-B4E1-7B9B-6DF69D1D87C1}"/>
              </a:ext>
            </a:extLst>
          </p:cNvPr>
          <p:cNvSpPr/>
          <p:nvPr/>
        </p:nvSpPr>
        <p:spPr>
          <a:xfrm>
            <a:off x="4445045" y="4495542"/>
            <a:ext cx="2859156" cy="888602"/>
          </a:xfrm>
          <a:prstGeom prst="wedgeRectCallout">
            <a:avLst>
              <a:gd name="adj1" fmla="val -67511"/>
              <a:gd name="adj2" fmla="val 8880"/>
            </a:avLst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" altLang="ja-JP" sz="1400" dirty="0"/>
              <a:t>genre</a:t>
            </a:r>
            <a:r>
              <a:rPr lang="ja-JP" altLang="en-US" sz="1400"/>
              <a:t>に「グルメ」、</a:t>
            </a:r>
            <a:r>
              <a:rPr lang="en" altLang="ja-JP" sz="1400" dirty="0" err="1"/>
              <a:t>genreSub</a:t>
            </a:r>
            <a:r>
              <a:rPr lang="ja-JP" altLang="en-US" sz="1400"/>
              <a:t>に「フードコート</a:t>
            </a:r>
            <a:r>
              <a:rPr lang="en-US" altLang="ja-JP" sz="1400" dirty="0"/>
              <a:t> or </a:t>
            </a:r>
            <a:r>
              <a:rPr lang="ja-JP" altLang="en-US" sz="1400"/>
              <a:t>レストラン</a:t>
            </a:r>
            <a:r>
              <a:rPr lang="en-US" altLang="ja-JP" sz="1400" dirty="0"/>
              <a:t> or </a:t>
            </a:r>
            <a:r>
              <a:rPr lang="ja-JP" altLang="en-US" sz="1400"/>
              <a:t>カフェ</a:t>
            </a:r>
            <a:r>
              <a:rPr lang="en-US" altLang="ja-JP" sz="1400" dirty="0"/>
              <a:t> or </a:t>
            </a:r>
            <a:r>
              <a:rPr lang="ja-JP" altLang="en-US" sz="1400"/>
              <a:t>スイーツ</a:t>
            </a:r>
            <a:r>
              <a:rPr lang="en-US" altLang="ja-JP" sz="1400" dirty="0"/>
              <a:t>/</a:t>
            </a:r>
            <a:r>
              <a:rPr lang="ja-JP" altLang="en-US" sz="1400"/>
              <a:t>その他」が設定される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05740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187D4-2CE5-7B58-E63B-5D9CD4B64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>
            <a:extLst>
              <a:ext uri="{FF2B5EF4-FFF2-40B4-BE49-F238E27FC236}">
                <a16:creationId xmlns:a16="http://schemas.microsoft.com/office/drawing/2014/main" id="{ABBFFB73-9973-A3A0-358E-D0CC48D0B6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①テナントカテゴリ</a:t>
            </a:r>
            <a:r>
              <a:rPr lang="en-US" altLang="ja-JP" dirty="0"/>
              <a:t> </a:t>
            </a:r>
            <a:r>
              <a:rPr lang="ja-JP" altLang="en-US"/>
              <a:t>新・旧出力例</a:t>
            </a:r>
            <a:endParaRPr lang="ja-JP" altLang="en-US" dirty="0"/>
          </a:p>
        </p:txBody>
      </p:sp>
      <p:sp>
        <p:nvSpPr>
          <p:cNvPr id="6148" name="スライド番号プレースホルダー 3">
            <a:extLst>
              <a:ext uri="{FF2B5EF4-FFF2-40B4-BE49-F238E27FC236}">
                <a16:creationId xmlns:a16="http://schemas.microsoft.com/office/drawing/2014/main" id="{1818EE1D-C7AC-249C-477B-FF1185FE764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ABF78BA-0DBB-4932-9A16-FCDC448B537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B47DD10-B22B-67BF-0281-FC2B4138B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326" y="1029054"/>
            <a:ext cx="11449306" cy="431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  <a:lvl6pPr marL="45718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9143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marL="285750" indent="-285750">
              <a:buFont typeface="Wingdings" pitchFamily="2" charset="2"/>
              <a:buChar char="l"/>
            </a:pPr>
            <a:r>
              <a:rPr lang="ja-JP" altLang="en-US" sz="1600" kern="0">
                <a:latin typeface="Meiryo UI"/>
                <a:ea typeface="Meiryo UI"/>
              </a:rPr>
              <a:t>以下、先行切替モールの出力例を記載</a:t>
            </a:r>
            <a:endParaRPr lang="en-US" altLang="ja-JP" sz="1600" kern="0">
              <a:latin typeface="Meiryo UI"/>
              <a:ea typeface="Meiryo UI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814C67F4-23C1-C114-160D-37042811E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714403"/>
              </p:ext>
            </p:extLst>
          </p:nvPr>
        </p:nvGraphicFramePr>
        <p:xfrm>
          <a:off x="395189" y="1650442"/>
          <a:ext cx="3531511" cy="176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917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2448594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多摩平の森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旧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新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ファッション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ファッション</a:t>
                      </a:r>
                      <a:r>
                        <a:rPr kumimoji="1" lang="en-US" altLang="ja-JP" sz="1000" dirty="0"/>
                        <a:t> or </a:t>
                      </a:r>
                      <a:r>
                        <a:rPr kumimoji="1" lang="ja-JP" altLang="en-US" sz="1000"/>
                        <a:t>スポーツ＆アウトドア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グッズ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グッズ</a:t>
                      </a:r>
                      <a:r>
                        <a:rPr kumimoji="1" lang="en-US" altLang="ja-JP" sz="1000" dirty="0"/>
                        <a:t> or </a:t>
                      </a:r>
                      <a:r>
                        <a:rPr kumimoji="1" lang="ja-JP" altLang="en-US" sz="1000"/>
                        <a:t>スポーツ＆アウトドア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グルメ＆フード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 err="1"/>
                        <a:t>ganre</a:t>
                      </a:r>
                      <a:r>
                        <a:rPr kumimoji="1" lang="ja-JP" altLang="en-US" sz="1000"/>
                        <a:t>：グルメ</a:t>
                      </a:r>
                      <a:endParaRPr kumimoji="1" lang="en-US" altLang="ja-JP" sz="1000" dirty="0"/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1000" dirty="0" err="1"/>
                        <a:t>genreSub</a:t>
                      </a:r>
                      <a:r>
                        <a:rPr lang="ja-JP" altLang="en-US" sz="1000"/>
                        <a:t>：グルメカテゴリのいずれか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サービス＆</a:t>
                      </a:r>
                      <a:endParaRPr kumimoji="1" lang="en-US" altLang="ja-JP" sz="1000" dirty="0"/>
                    </a:p>
                    <a:p>
                      <a:r>
                        <a:rPr kumimoji="1" lang="ja-JP" altLang="en-US" sz="1000"/>
                        <a:t>エンターテイメント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サービス</a:t>
                      </a:r>
                      <a:r>
                        <a:rPr kumimoji="1" lang="en-US" altLang="ja-JP" sz="1000" dirty="0"/>
                        <a:t> or </a:t>
                      </a:r>
                      <a:r>
                        <a:rPr kumimoji="1" lang="ja-JP" altLang="en-US" sz="1000"/>
                        <a:t>クリニック</a:t>
                      </a:r>
                      <a:r>
                        <a:rPr kumimoji="1" lang="en-US" altLang="ja-JP" sz="1000" dirty="0"/>
                        <a:t> or </a:t>
                      </a:r>
                      <a:r>
                        <a:rPr kumimoji="1" lang="ja-JP" altLang="en-US" sz="1000"/>
                        <a:t>エンターテイメント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68E022B6-5006-8A58-C350-4D4E7A48C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452673"/>
              </p:ext>
            </p:extLst>
          </p:nvPr>
        </p:nvGraphicFramePr>
        <p:xfrm>
          <a:off x="4200610" y="1639703"/>
          <a:ext cx="3490738" cy="2103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372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2451366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川口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旧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新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ファッション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ファッション</a:t>
                      </a:r>
                      <a:r>
                        <a:rPr kumimoji="1" lang="en-US" altLang="ja-JP" sz="1000" dirty="0"/>
                        <a:t> or </a:t>
                      </a:r>
                      <a:r>
                        <a:rPr kumimoji="1" lang="ja-JP" altLang="en-US" sz="1000"/>
                        <a:t>スポーツ＆アウトドア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グッズ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グッズ</a:t>
                      </a:r>
                      <a:r>
                        <a:rPr kumimoji="1" lang="en-US" altLang="ja-JP" sz="1000" dirty="0"/>
                        <a:t> or </a:t>
                      </a:r>
                      <a:r>
                        <a:rPr kumimoji="1" lang="ja-JP" altLang="en-US" sz="1000"/>
                        <a:t>スポーツ＆アウトドア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グルメ＆フード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 err="1"/>
                        <a:t>ganre</a:t>
                      </a:r>
                      <a:r>
                        <a:rPr kumimoji="1" lang="ja-JP" altLang="en-US" sz="1000"/>
                        <a:t>：グルメ</a:t>
                      </a:r>
                      <a:endParaRPr kumimoji="1" lang="en-US" altLang="ja-JP" sz="1000" dirty="0"/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1000" dirty="0" err="1"/>
                        <a:t>genreSub</a:t>
                      </a:r>
                      <a:r>
                        <a:rPr lang="ja-JP" altLang="en-US" sz="1000"/>
                        <a:t>：グルメカテゴリのいずれか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サービス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サービス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アミューズメント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エンターテイメント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74481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GMS</a:t>
                      </a:r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サービス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658582"/>
                  </a:ext>
                </a:extLst>
              </a:tr>
            </a:tbl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A3AE1151-B3C5-4A22-9AA4-9137A6D63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392962"/>
              </p:ext>
            </p:extLst>
          </p:nvPr>
        </p:nvGraphicFramePr>
        <p:xfrm>
          <a:off x="7965258" y="1639703"/>
          <a:ext cx="3490736" cy="186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279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2363457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三光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旧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新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ファッション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ファッション</a:t>
                      </a:r>
                      <a:r>
                        <a:rPr kumimoji="1" lang="en-US" altLang="ja-JP" sz="1000" dirty="0"/>
                        <a:t> or </a:t>
                      </a:r>
                      <a:r>
                        <a:rPr kumimoji="1" lang="ja-JP" altLang="en-US" sz="1000"/>
                        <a:t>スポーツ＆アウトドア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グッズ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グッズ</a:t>
                      </a:r>
                      <a:r>
                        <a:rPr kumimoji="1" lang="en-US" altLang="ja-JP" sz="1000" dirty="0"/>
                        <a:t> or </a:t>
                      </a:r>
                      <a:r>
                        <a:rPr kumimoji="1" lang="ja-JP" altLang="en-US" sz="1000"/>
                        <a:t>スポーツ＆アウトドア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カフェ・レストラン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 err="1"/>
                        <a:t>ganre</a:t>
                      </a:r>
                      <a:r>
                        <a:rPr kumimoji="1" lang="ja-JP" altLang="en-US" sz="1000"/>
                        <a:t>：グルメ</a:t>
                      </a:r>
                      <a:endParaRPr kumimoji="1" lang="en-US" altLang="ja-JP" sz="1000" dirty="0"/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1000" dirty="0" err="1"/>
                        <a:t>genreSub</a:t>
                      </a:r>
                      <a:r>
                        <a:rPr lang="ja-JP" altLang="en-US" sz="1000"/>
                        <a:t>：グルメカテゴリのいずれか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アミューズメント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エンターテイメント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サービス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サービス</a:t>
                      </a:r>
                      <a:r>
                        <a:rPr kumimoji="1" lang="en-US" altLang="ja-JP" sz="1000" dirty="0"/>
                        <a:t> or </a:t>
                      </a:r>
                      <a:r>
                        <a:rPr kumimoji="1" lang="ja-JP" altLang="en-US" sz="1000"/>
                        <a:t>クリニック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21389"/>
                  </a:ext>
                </a:extLst>
              </a:tr>
            </a:tbl>
          </a:graphicData>
        </a:graphic>
      </p:graphicFrame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544AB9A4-DBFD-C1CA-36AA-3BEDE6C31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998649"/>
              </p:ext>
            </p:extLst>
          </p:nvPr>
        </p:nvGraphicFramePr>
        <p:xfrm>
          <a:off x="395188" y="4030454"/>
          <a:ext cx="3531511" cy="2103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824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2151687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千葉ニュータウン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旧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新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ファッション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ファッション</a:t>
                      </a:r>
                      <a:r>
                        <a:rPr kumimoji="1" lang="en-US" altLang="ja-JP" sz="1000" dirty="0"/>
                        <a:t> or </a:t>
                      </a:r>
                      <a:r>
                        <a:rPr kumimoji="1" lang="ja-JP" altLang="en-US" sz="1000"/>
                        <a:t>スポーツ＆アウトドア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グッズ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グッズ</a:t>
                      </a:r>
                      <a:r>
                        <a:rPr kumimoji="1" lang="en-US" altLang="ja-JP" sz="1000" dirty="0"/>
                        <a:t> or </a:t>
                      </a:r>
                      <a:r>
                        <a:rPr kumimoji="1" lang="ja-JP" altLang="en-US" sz="1000"/>
                        <a:t>スポーツ＆アウトドア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サービス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サービス</a:t>
                      </a:r>
                      <a:r>
                        <a:rPr kumimoji="1" lang="en-US" altLang="ja-JP" sz="1000" dirty="0"/>
                        <a:t> or </a:t>
                      </a:r>
                      <a:r>
                        <a:rPr kumimoji="1" lang="ja-JP" altLang="en-US" sz="1000"/>
                        <a:t>クリニック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フード・カフェ・レストラン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 err="1"/>
                        <a:t>ganre</a:t>
                      </a:r>
                      <a:r>
                        <a:rPr kumimoji="1" lang="ja-JP" altLang="en-US" sz="1000"/>
                        <a:t>：グルメ</a:t>
                      </a:r>
                      <a:endParaRPr kumimoji="1" lang="en-US" altLang="ja-JP" sz="1000" dirty="0"/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1000" dirty="0" err="1"/>
                        <a:t>genreSub</a:t>
                      </a:r>
                      <a:r>
                        <a:rPr lang="ja-JP" altLang="en-US" sz="1000"/>
                        <a:t>：グルメカテゴリのいずれか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アミューズメント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エンターテイメント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21389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その他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サービス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98128"/>
                  </a:ext>
                </a:extLst>
              </a:tr>
            </a:tbl>
          </a:graphicData>
        </a:graphic>
      </p:graphicFrame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B0B26B6F-016D-5C64-620E-47B8B6BA7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023418"/>
              </p:ext>
            </p:extLst>
          </p:nvPr>
        </p:nvGraphicFramePr>
        <p:xfrm>
          <a:off x="4200609" y="4019067"/>
          <a:ext cx="3490737" cy="2103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5683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2105054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むさし村山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旧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新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ファッション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ファッション</a:t>
                      </a:r>
                      <a:r>
                        <a:rPr kumimoji="1" lang="en-US" altLang="ja-JP" sz="1000" dirty="0"/>
                        <a:t> or </a:t>
                      </a:r>
                      <a:r>
                        <a:rPr kumimoji="1" lang="ja-JP" altLang="en-US" sz="1000"/>
                        <a:t>スポーツ＆アウトドア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ヘルス＆ビューティー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グッズ</a:t>
                      </a:r>
                      <a:r>
                        <a:rPr kumimoji="1" lang="en-US" altLang="ja-JP" sz="1000" dirty="0"/>
                        <a:t> or </a:t>
                      </a:r>
                      <a:r>
                        <a:rPr kumimoji="1" lang="ja-JP" altLang="en-US" sz="1000"/>
                        <a:t>サービス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ライフグッズ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グッズ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カルチャー＆</a:t>
                      </a:r>
                      <a:r>
                        <a:rPr kumimoji="1" lang="en-US" altLang="ja-JP" sz="1000" dirty="0"/>
                        <a:t> </a:t>
                      </a:r>
                      <a:r>
                        <a:rPr kumimoji="1" lang="ja-JP" altLang="en-US" sz="1000"/>
                        <a:t>サービス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ja-JP" altLang="en-US" sz="1000"/>
                        <a:t>サービス</a:t>
                      </a:r>
                      <a:r>
                        <a:rPr lang="ja-JP" altLang="en-US" sz="1000"/>
                        <a:t> or エンターテイメント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クリニック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クリニック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21389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グルメ</a:t>
                      </a:r>
                      <a:endParaRPr kumimoji="1" lang="en-US" altLang="ja-JP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 err="1"/>
                        <a:t>ganre</a:t>
                      </a:r>
                      <a:r>
                        <a:rPr kumimoji="1" lang="ja-JP" altLang="en-US" sz="1000"/>
                        <a:t>：グルメ</a:t>
                      </a:r>
                      <a:endParaRPr kumimoji="1" lang="en-US" altLang="ja-JP" sz="1000" dirty="0"/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1000" dirty="0" err="1"/>
                        <a:t>genreSub</a:t>
                      </a:r>
                      <a:r>
                        <a:rPr lang="ja-JP" altLang="en-US" sz="1000"/>
                        <a:t>：グルメカテゴリのいずれか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011226"/>
                  </a:ext>
                </a:extLst>
              </a:tr>
            </a:tbl>
          </a:graphicData>
        </a:graphic>
      </p:graphicFrame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1A1C9F86-3F5D-E523-7679-51C335110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779123"/>
              </p:ext>
            </p:extLst>
          </p:nvPr>
        </p:nvGraphicFramePr>
        <p:xfrm>
          <a:off x="7965256" y="4030454"/>
          <a:ext cx="3490736" cy="186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279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2363457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上尾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旧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新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ファッション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ファッション</a:t>
                      </a:r>
                      <a:r>
                        <a:rPr kumimoji="1" lang="en-US" altLang="ja-JP" sz="1000" dirty="0"/>
                        <a:t> or </a:t>
                      </a:r>
                      <a:r>
                        <a:rPr kumimoji="1" lang="ja-JP" altLang="en-US" sz="1000"/>
                        <a:t>スポーツ＆アウトドア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グッズ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グッズ</a:t>
                      </a:r>
                      <a:r>
                        <a:rPr kumimoji="1" lang="en-US" altLang="ja-JP" sz="1000" dirty="0"/>
                        <a:t> or </a:t>
                      </a:r>
                      <a:r>
                        <a:rPr kumimoji="1" lang="ja-JP" altLang="en-US" sz="1000"/>
                        <a:t>スポーツ＆アウトドア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グルメ＆フード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 err="1"/>
                        <a:t>ganre</a:t>
                      </a:r>
                      <a:r>
                        <a:rPr kumimoji="1" lang="ja-JP" altLang="en-US" sz="1000"/>
                        <a:t>：グルメ</a:t>
                      </a:r>
                      <a:endParaRPr kumimoji="1" lang="en-US" altLang="ja-JP" sz="1000" dirty="0"/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1000" dirty="0" err="1"/>
                        <a:t>genreSub</a:t>
                      </a:r>
                      <a:r>
                        <a:rPr lang="ja-JP" altLang="en-US" sz="1000"/>
                        <a:t>：グルメカテゴリのいずれか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サービス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サービス</a:t>
                      </a:r>
                      <a:r>
                        <a:rPr kumimoji="1" lang="en-US" altLang="ja-JP" sz="1000" dirty="0"/>
                        <a:t> or </a:t>
                      </a:r>
                      <a:r>
                        <a:rPr kumimoji="1" lang="ja-JP" altLang="en-US" sz="1000"/>
                        <a:t>クリニック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アミューズメント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エンターテイメント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21389"/>
                  </a:ext>
                </a:extLst>
              </a:tr>
            </a:tbl>
          </a:graphicData>
        </a:graphic>
      </p:graphicFrame>
      <p:sp>
        <p:nvSpPr>
          <p:cNvPr id="4" name="タイトル 1">
            <a:extLst>
              <a:ext uri="{FF2B5EF4-FFF2-40B4-BE49-F238E27FC236}">
                <a16:creationId xmlns:a16="http://schemas.microsoft.com/office/drawing/2014/main" id="{AC3C06FE-0CE3-618E-18C5-BF67EEE27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326" y="6306309"/>
            <a:ext cx="11449306" cy="431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45718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  <a:cs typeface="+mn-cs"/>
              </a:defRPr>
            </a:lvl6pPr>
            <a:lvl7pPr marL="91437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  <a:cs typeface="+mn-cs"/>
              </a:defRPr>
            </a:lvl7pPr>
            <a:lvl8pPr marL="137156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  <a:cs typeface="+mn-cs"/>
              </a:defRPr>
            </a:lvl8pPr>
            <a:lvl9pPr marL="182875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  <a:cs typeface="+mn-cs"/>
              </a:defRPr>
            </a:lvl9pPr>
          </a:lstStyle>
          <a:p>
            <a:r>
              <a:rPr lang="en-US" altLang="ja-JP" sz="1100" kern="0" dirty="0">
                <a:latin typeface="Meiryo UI"/>
                <a:ea typeface="Meiryo UI"/>
              </a:rPr>
              <a:t>※旧CMSから新CMSへショップ情報を移行した後、テナントカテゴリは未設定状態となるため、各モール担当者が各テナントのカテゴリを設定する</a:t>
            </a:r>
            <a:endParaRPr lang="en-US" altLang="ja-JP" sz="1100" kern="0" dirty="0"/>
          </a:p>
        </p:txBody>
      </p:sp>
    </p:spTree>
    <p:extLst>
      <p:ext uri="{BB962C8B-B14F-4D97-AF65-F5344CB8AC3E}">
        <p14:creationId xmlns:p14="http://schemas.microsoft.com/office/powerpoint/2010/main" val="1189339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03ACD-5907-3902-CF7A-0622B1335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>
            <a:extLst>
              <a:ext uri="{FF2B5EF4-FFF2-40B4-BE49-F238E27FC236}">
                <a16:creationId xmlns:a16="http://schemas.microsoft.com/office/drawing/2014/main" id="{C25CA5E7-FBDF-2DF8-9AF7-BE1CFA9B4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/>
              <a:t>②オプション</a:t>
            </a:r>
            <a:r>
              <a:rPr lang="en-US" altLang="ja-JP" dirty="0"/>
              <a:t>(options)</a:t>
            </a:r>
            <a:r>
              <a:rPr lang="ja-JP" altLang="en-US" dirty="0"/>
              <a:t>の変更・統一</a:t>
            </a:r>
          </a:p>
        </p:txBody>
      </p:sp>
      <p:sp>
        <p:nvSpPr>
          <p:cNvPr id="6148" name="スライド番号プレースホルダー 3">
            <a:extLst>
              <a:ext uri="{FF2B5EF4-FFF2-40B4-BE49-F238E27FC236}">
                <a16:creationId xmlns:a16="http://schemas.microsoft.com/office/drawing/2014/main" id="{12FF6E4B-634E-F256-CBBC-9028C53625F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ABF78BA-0DBB-4932-9A16-FCDC448B537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19CF22F-B623-2620-9539-5F53A4AD5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326" y="1029055"/>
            <a:ext cx="11449306" cy="1087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  <a:lvl6pPr marL="45718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9143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marL="285750" indent="-285750">
              <a:buFont typeface="Wingdings" pitchFamily="2" charset="2"/>
              <a:buChar char="l"/>
            </a:pPr>
            <a:r>
              <a:rPr lang="ja-JP" altLang="en-US" sz="1600" kern="0"/>
              <a:t>現行</a:t>
            </a:r>
            <a:r>
              <a:rPr lang="en-US" altLang="ja-JP" sz="1600" kern="0" dirty="0"/>
              <a:t>CMS</a:t>
            </a:r>
            <a:r>
              <a:rPr lang="ja-JP" altLang="en-US" sz="1600" kern="0"/>
              <a:t>では</a:t>
            </a:r>
            <a:r>
              <a:rPr lang="ja-JP" altLang="en-US" sz="1600" b="1" kern="0"/>
              <a:t>モール毎にショップのオプションを定義</a:t>
            </a:r>
            <a:r>
              <a:rPr lang="ja-JP" altLang="en-US" sz="1600" kern="0"/>
              <a:t>していたが、</a:t>
            </a:r>
            <a:r>
              <a:rPr lang="ja-JP" altLang="en-US" sz="1600" b="1" kern="0"/>
              <a:t>新</a:t>
            </a:r>
            <a:r>
              <a:rPr lang="en-US" altLang="ja-JP" sz="1600" b="1" kern="0" dirty="0"/>
              <a:t>CMS</a:t>
            </a:r>
            <a:r>
              <a:rPr lang="ja-JP" altLang="en-US" sz="1600" b="1" kern="0"/>
              <a:t>では全モール共通のオプション</a:t>
            </a:r>
            <a:r>
              <a:rPr lang="ja-JP" altLang="en-US" sz="1600" kern="0"/>
              <a:t>に変更となる</a:t>
            </a:r>
            <a:endParaRPr lang="en-US" altLang="ja-JP" sz="1600" kern="0" dirty="0"/>
          </a:p>
          <a:p>
            <a:pPr marL="285750" indent="-285750">
              <a:buFont typeface="Wingdings" pitchFamily="2" charset="2"/>
              <a:buChar char="l"/>
            </a:pPr>
            <a:r>
              <a:rPr lang="ja-JP" altLang="en-US" sz="1600" kern="0"/>
              <a:t>新</a:t>
            </a:r>
            <a:r>
              <a:rPr lang="en-US" altLang="ja-JP" sz="1600" kern="0" dirty="0"/>
              <a:t>CMS</a:t>
            </a:r>
            <a:r>
              <a:rPr lang="ja-JP" altLang="en-US" sz="1600" kern="0"/>
              <a:t>では、以下のオプション項目の</a:t>
            </a:r>
            <a:r>
              <a:rPr lang="en-US" altLang="ja-JP" sz="1600" kern="0" dirty="0"/>
              <a:t>id</a:t>
            </a:r>
            <a:r>
              <a:rPr lang="ja-JP" altLang="en-US" sz="1600" kern="0"/>
              <a:t>が出力される</a:t>
            </a:r>
            <a:endParaRPr lang="en-US" altLang="ja-JP" sz="1600" kern="0" dirty="0"/>
          </a:p>
          <a:p>
            <a:pPr marL="285750" indent="-285750">
              <a:buFont typeface="Wingdings" pitchFamily="2" charset="2"/>
              <a:buChar char="l"/>
            </a:pPr>
            <a:r>
              <a:rPr lang="ja-JP" altLang="en-US" sz="1600" kern="0"/>
              <a:t>現行のショップ情報を新</a:t>
            </a:r>
            <a:r>
              <a:rPr lang="en-US" altLang="ja-JP" sz="1600" kern="0" dirty="0"/>
              <a:t>CMS</a:t>
            </a:r>
            <a:r>
              <a:rPr lang="ja-JP" altLang="en-US" sz="1600" kern="0"/>
              <a:t>に移行する際に、既存のオプション項目を新</a:t>
            </a:r>
            <a:r>
              <a:rPr lang="en-US" altLang="ja-JP" sz="1600" kern="0" dirty="0"/>
              <a:t>CMS</a:t>
            </a:r>
            <a:r>
              <a:rPr lang="ja-JP" altLang="en-US" sz="1600" kern="0"/>
              <a:t>のオプション項目にマッピングする</a:t>
            </a:r>
            <a:endParaRPr lang="en-US" altLang="ja-JP" sz="1600" kern="0" dirty="0"/>
          </a:p>
          <a:p>
            <a:pPr marL="285750" indent="-285750">
              <a:buFont typeface="Wingdings" pitchFamily="2" charset="2"/>
              <a:buChar char="l"/>
            </a:pPr>
            <a:r>
              <a:rPr lang="ja-JP" altLang="en-US" sz="1600" kern="0"/>
              <a:t>現行</a:t>
            </a:r>
            <a:r>
              <a:rPr lang="en-US" altLang="ja-JP" sz="1600" kern="0" dirty="0"/>
              <a:t>CMS</a:t>
            </a:r>
            <a:r>
              <a:rPr lang="ja-JP" altLang="en-US" sz="1600" kern="0"/>
              <a:t>にあって、新</a:t>
            </a:r>
            <a:r>
              <a:rPr lang="en-US" altLang="ja-JP" sz="1600" kern="0" dirty="0"/>
              <a:t>CMS</a:t>
            </a:r>
            <a:r>
              <a:rPr lang="ja-JP" altLang="en-US" sz="1600" kern="0"/>
              <a:t>にはないオプションの場合は、新</a:t>
            </a:r>
            <a:r>
              <a:rPr lang="en-US" altLang="ja-JP" sz="1600" kern="0" dirty="0"/>
              <a:t>CMS</a:t>
            </a:r>
            <a:r>
              <a:rPr lang="ja-JP" altLang="en-US" sz="1600" kern="0"/>
              <a:t>では出力されない可能性あり</a:t>
            </a:r>
            <a:endParaRPr lang="en-US" altLang="ja-JP" sz="1600" kern="0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AC72F44A-8A37-F2B8-A2CA-1681E00EF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404776"/>
              </p:ext>
            </p:extLst>
          </p:nvPr>
        </p:nvGraphicFramePr>
        <p:xfrm>
          <a:off x="379663" y="2249487"/>
          <a:ext cx="6374603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56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1717010">
                  <a:extLst>
                    <a:ext uri="{9D8B030D-6E8A-4147-A177-3AD203B41FA5}">
                      <a16:colId xmlns:a16="http://schemas.microsoft.com/office/drawing/2014/main" val="4091198854"/>
                    </a:ext>
                  </a:extLst>
                </a:gridCol>
                <a:gridCol w="526728">
                  <a:extLst>
                    <a:ext uri="{9D8B030D-6E8A-4147-A177-3AD203B41FA5}">
                      <a16:colId xmlns:a16="http://schemas.microsoft.com/office/drawing/2014/main" val="234099351"/>
                    </a:ext>
                  </a:extLst>
                </a:gridCol>
                <a:gridCol w="1508549">
                  <a:extLst>
                    <a:ext uri="{9D8B030D-6E8A-4147-A177-3AD203B41FA5}">
                      <a16:colId xmlns:a16="http://schemas.microsoft.com/office/drawing/2014/main" val="3333913871"/>
                    </a:ext>
                  </a:extLst>
                </a:gridCol>
                <a:gridCol w="520036">
                  <a:extLst>
                    <a:ext uri="{9D8B030D-6E8A-4147-A177-3AD203B41FA5}">
                      <a16:colId xmlns:a16="http://schemas.microsoft.com/office/drawing/2014/main" val="2282732591"/>
                    </a:ext>
                  </a:extLst>
                </a:gridCol>
                <a:gridCol w="1721224">
                  <a:extLst>
                    <a:ext uri="{9D8B030D-6E8A-4147-A177-3AD203B41FA5}">
                      <a16:colId xmlns:a16="http://schemas.microsoft.com/office/drawing/2014/main" val="1417546669"/>
                    </a:ext>
                  </a:extLst>
                </a:gridCol>
              </a:tblGrid>
              <a:tr h="163830">
                <a:tc gridSpan="6"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新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CMS</a:t>
                      </a:r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のオプション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(options)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200" b="1" dirty="0"/>
                        <a:t>id</a:t>
                      </a:r>
                      <a:endParaRPr kumimoji="1" lang="ja-JP" altLang="en-US" sz="12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1"/>
                        <a:t>名称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1" dirty="0"/>
                        <a:t>id</a:t>
                      </a:r>
                      <a:endParaRPr kumimoji="1" lang="ja-JP" altLang="en-US" sz="12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1"/>
                        <a:t>名称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1" dirty="0"/>
                        <a:t>id</a:t>
                      </a:r>
                      <a:endParaRPr kumimoji="1" lang="ja-JP" altLang="en-US" sz="12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1"/>
                        <a:t>名称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レディース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100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" altLang="ja-JP" sz="1200" dirty="0"/>
                        <a:t>WAON POINT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113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" altLang="ja-JP" sz="1200" dirty="0"/>
                        <a:t>Uber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メンズ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AEON 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出前館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キッズ</a:t>
                      </a:r>
                      <a:endParaRPr kumimoji="1" lang="en-US" altLang="ja-JP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102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" altLang="ja-JP" sz="1200" dirty="0" err="1"/>
                        <a:t>PayPay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115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" altLang="ja-JP" sz="1200" dirty="0" err="1"/>
                        <a:t>wolt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シューズ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103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銀聯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116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" altLang="ja-JP" sz="1200" dirty="0"/>
                        <a:t>Takeout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バッグ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104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" altLang="ja-JP" sz="1200" dirty="0" err="1"/>
                        <a:t>AliPay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117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" altLang="ja-JP" sz="1200" dirty="0"/>
                        <a:t>TAXFREE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48636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ファッショングッズ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105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" altLang="ja-JP" sz="1200" dirty="0" err="1"/>
                        <a:t>WeChatPay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118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地元企業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88280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ウォッチ</a:t>
                      </a:r>
                      <a:r>
                        <a:rPr kumimoji="1" lang="en-US" altLang="ja-JP" sz="1200" dirty="0"/>
                        <a:t>/</a:t>
                      </a:r>
                      <a:r>
                        <a:rPr kumimoji="1" lang="ja-JP" altLang="en-US" sz="1200"/>
                        <a:t>アクセサリー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106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電子マネー</a:t>
                      </a:r>
                      <a:r>
                        <a:rPr kumimoji="1" lang="en" altLang="ja-JP" sz="1200" dirty="0"/>
                        <a:t>WAON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119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配送</a:t>
                      </a:r>
                      <a:r>
                        <a:rPr kumimoji="1" lang="en" altLang="ja-JP" sz="1200" dirty="0"/>
                        <a:t>OK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4867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8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雑貨</a:t>
                      </a:r>
                      <a:r>
                        <a:rPr kumimoji="1" lang="en-US" altLang="ja-JP" sz="1200" dirty="0"/>
                        <a:t>/</a:t>
                      </a:r>
                      <a:r>
                        <a:rPr kumimoji="1" lang="ja-JP" altLang="en-US" sz="1200"/>
                        <a:t>キッチン用品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107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イオンギフトカード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120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ラッピング</a:t>
                      </a:r>
                      <a:r>
                        <a:rPr kumimoji="1" lang="en" altLang="ja-JP" sz="1200" dirty="0"/>
                        <a:t>OK 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932339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家電量販店</a:t>
                      </a:r>
                      <a:r>
                        <a:rPr kumimoji="1" lang="en-US" altLang="ja-JP" sz="1200" dirty="0"/>
                        <a:t>/</a:t>
                      </a:r>
                      <a:r>
                        <a:rPr kumimoji="1" lang="ja-JP" altLang="en-US" sz="1200"/>
                        <a:t>家具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108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イオンモールお買物券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45201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化粧品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109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キッズおかいものけん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903114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ホビー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110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感謝デー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853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12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キッズ関連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111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シネマ</a:t>
                      </a:r>
                      <a:r>
                        <a:rPr kumimoji="1" lang="en" altLang="ja-JP" sz="1200" dirty="0"/>
                        <a:t>de</a:t>
                      </a:r>
                      <a:r>
                        <a:rPr kumimoji="1" lang="ja-JP" altLang="en-US" sz="1200"/>
                        <a:t>おとく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991538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13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" altLang="ja-JP" sz="1200" dirty="0" err="1"/>
                        <a:t>haral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rgbClr val="FF0000"/>
                          </a:solidFill>
                        </a:rPr>
                        <a:t>112</a:t>
                      </a:r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" altLang="ja-JP" sz="1200" dirty="0"/>
                        <a:t>G.G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66762"/>
                  </a:ext>
                </a:extLst>
              </a:tr>
            </a:tbl>
          </a:graphicData>
        </a:graphic>
      </p:graphicFrame>
      <p:sp>
        <p:nvSpPr>
          <p:cNvPr id="7" name="四角形吹き出し 6">
            <a:extLst>
              <a:ext uri="{FF2B5EF4-FFF2-40B4-BE49-F238E27FC236}">
                <a16:creationId xmlns:a16="http://schemas.microsoft.com/office/drawing/2014/main" id="{56D1736A-026D-CB5E-1756-371010D9A11C}"/>
              </a:ext>
            </a:extLst>
          </p:cNvPr>
          <p:cNvSpPr/>
          <p:nvPr/>
        </p:nvSpPr>
        <p:spPr>
          <a:xfrm>
            <a:off x="6896025" y="2773014"/>
            <a:ext cx="1732073" cy="826203"/>
          </a:xfrm>
          <a:prstGeom prst="wedgeRectCallout">
            <a:avLst>
              <a:gd name="adj1" fmla="val -70631"/>
              <a:gd name="adj2" fmla="val 45512"/>
            </a:avLst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400"/>
              <a:t>新</a:t>
            </a:r>
            <a:r>
              <a:rPr lang="en-US" altLang="ja-JP" sz="1400" dirty="0"/>
              <a:t>CMS</a:t>
            </a:r>
            <a:r>
              <a:rPr lang="ja-JP" altLang="en-US" sz="1400"/>
              <a:t>で定義された</a:t>
            </a:r>
            <a:r>
              <a:rPr kumimoji="1" lang="ja-JP" altLang="en-US" sz="1400"/>
              <a:t>オプションの</a:t>
            </a:r>
            <a:r>
              <a:rPr kumimoji="1" lang="en-US" altLang="ja-JP" sz="1400" dirty="0"/>
              <a:t>id</a:t>
            </a:r>
            <a:r>
              <a:rPr kumimoji="1" lang="ja-JP" altLang="en-US" sz="1400"/>
              <a:t>が出力される</a:t>
            </a:r>
            <a:endParaRPr kumimoji="1" lang="ja-JP" altLang="en-US" sz="14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5CDB9F2-BB51-9B72-D99E-4269D337AD7B}"/>
              </a:ext>
            </a:extLst>
          </p:cNvPr>
          <p:cNvSpPr/>
          <p:nvPr/>
        </p:nvSpPr>
        <p:spPr>
          <a:xfrm>
            <a:off x="379663" y="2773017"/>
            <a:ext cx="415467" cy="35912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0FF633C-0367-FCFE-AD3C-976E00C56A90}"/>
              </a:ext>
            </a:extLst>
          </p:cNvPr>
          <p:cNvSpPr/>
          <p:nvPr/>
        </p:nvSpPr>
        <p:spPr>
          <a:xfrm>
            <a:off x="2455606" y="2773015"/>
            <a:ext cx="550995" cy="35912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D6E0FDA-7B8B-AABC-67B8-A49F415F8314}"/>
              </a:ext>
            </a:extLst>
          </p:cNvPr>
          <p:cNvSpPr/>
          <p:nvPr/>
        </p:nvSpPr>
        <p:spPr>
          <a:xfrm>
            <a:off x="4498211" y="2759567"/>
            <a:ext cx="550995" cy="22180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539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07F2A-9B0B-3E4B-2B77-E1618D5F2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>
            <a:extLst>
              <a:ext uri="{FF2B5EF4-FFF2-40B4-BE49-F238E27FC236}">
                <a16:creationId xmlns:a16="http://schemas.microsoft.com/office/drawing/2014/main" id="{D5D22D64-740E-3174-0EB6-53D322765A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②オプション</a:t>
            </a:r>
            <a:r>
              <a:rPr lang="en-US" altLang="ja-JP" dirty="0"/>
              <a:t>(options) </a:t>
            </a:r>
            <a:r>
              <a:rPr lang="ja-JP" altLang="en-US"/>
              <a:t>新・旧出力例</a:t>
            </a:r>
            <a:endParaRPr lang="ja-JP" altLang="en-US" dirty="0"/>
          </a:p>
        </p:txBody>
      </p:sp>
      <p:sp>
        <p:nvSpPr>
          <p:cNvPr id="6148" name="スライド番号プレースホルダー 3">
            <a:extLst>
              <a:ext uri="{FF2B5EF4-FFF2-40B4-BE49-F238E27FC236}">
                <a16:creationId xmlns:a16="http://schemas.microsoft.com/office/drawing/2014/main" id="{7548FF88-A1A4-5F63-C887-E18C6E50351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ABF78BA-0DBB-4932-9A16-FCDC448B537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05E1DE6-B79E-9496-09A3-D3B5A752D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326" y="1029054"/>
            <a:ext cx="11449306" cy="431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  <a:lvl6pPr marL="45718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9143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marL="285750" indent="-285750">
              <a:buFont typeface="Wingdings" pitchFamily="2" charset="2"/>
              <a:buChar char="l"/>
            </a:pPr>
            <a:r>
              <a:rPr lang="ja-JP" altLang="en-US" sz="1600" kern="0">
                <a:latin typeface="Meiryo UI"/>
                <a:ea typeface="Meiryo UI"/>
              </a:rPr>
              <a:t>以下先行切替モールの出力例を記載</a:t>
            </a:r>
            <a:endParaRPr lang="en-US" altLang="ja-JP" sz="1600" kern="0">
              <a:latin typeface="Meiryo UI"/>
              <a:ea typeface="Meiryo UI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70CFFC2D-B84D-504A-3824-795FCEBB4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667766"/>
              </p:ext>
            </p:extLst>
          </p:nvPr>
        </p:nvGraphicFramePr>
        <p:xfrm>
          <a:off x="115446" y="1635074"/>
          <a:ext cx="1952611" cy="378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766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979845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多摩平の森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旧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新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アルコール取り扱い店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/>
                        <a:t>無し</a:t>
                      </a:r>
                      <a:r>
                        <a:rPr kumimoji="1" lang="en-US" altLang="ja-JP" sz="1000" dirty="0"/>
                        <a:t>)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tax-free shop</a:t>
                      </a:r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000" dirty="0"/>
                        <a:t>TAXFREE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キッズ関連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キッズ関連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Aeon Pay</a:t>
                      </a:r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AEON Pay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 err="1"/>
                        <a:t>PayPay</a:t>
                      </a:r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000" dirty="0" err="1"/>
                        <a:t>PayPay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085417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お客様感謝デー</a:t>
                      </a:r>
                      <a:endParaRPr kumimoji="1" lang="en-US" altLang="ja-JP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感謝デー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867601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G.G</a:t>
                      </a:r>
                      <a:r>
                        <a:rPr kumimoji="1" lang="ja-JP" altLang="en-US" sz="1000"/>
                        <a:t>感謝デー</a:t>
                      </a:r>
                      <a:endParaRPr kumimoji="1" lang="en-US" altLang="ja-JP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" altLang="ja-JP" sz="1000" dirty="0"/>
                        <a:t>G.G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90288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火曜市</a:t>
                      </a:r>
                      <a:endParaRPr kumimoji="1" lang="en-US" altLang="ja-JP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/>
                        <a:t>無し</a:t>
                      </a:r>
                      <a:r>
                        <a:rPr kumimoji="1" lang="en-US" altLang="ja-JP" sz="1000" dirty="0"/>
                        <a:t>)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067532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関東地区初</a:t>
                      </a:r>
                      <a:endParaRPr kumimoji="1" lang="en-US" altLang="ja-JP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/>
                        <a:t>無し</a:t>
                      </a:r>
                      <a:r>
                        <a:rPr kumimoji="1" lang="en-US" altLang="ja-JP" sz="1000" dirty="0"/>
                        <a:t>)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438840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東京都初</a:t>
                      </a:r>
                      <a:endParaRPr kumimoji="1" lang="en-US" altLang="ja-JP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/>
                        <a:t>無し</a:t>
                      </a:r>
                      <a:r>
                        <a:rPr kumimoji="1" lang="en-US" altLang="ja-JP" sz="1000" dirty="0"/>
                        <a:t>)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348157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WAON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000" dirty="0"/>
                        <a:t>WAON POINT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185097"/>
                  </a:ext>
                </a:extLst>
              </a:tr>
            </a:tbl>
          </a:graphicData>
        </a:graphic>
      </p:graphicFrame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1F5CD8FB-3646-ED8A-1BA4-EFC4DC20E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980401"/>
              </p:ext>
            </p:extLst>
          </p:nvPr>
        </p:nvGraphicFramePr>
        <p:xfrm>
          <a:off x="2105843" y="1635074"/>
          <a:ext cx="1890630" cy="323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4524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966106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川口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旧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新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 err="1"/>
                        <a:t>WeChatPay</a:t>
                      </a:r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" altLang="ja-JP" sz="1000" dirty="0" err="1"/>
                        <a:t>WeChatPay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Alipay</a:t>
                      </a:r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000" dirty="0" err="1"/>
                        <a:t>AliPay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 err="1"/>
                        <a:t>PayPay</a:t>
                      </a:r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000" dirty="0" err="1"/>
                        <a:t>PayPay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キッズ関連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キッズ関連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 err="1"/>
                        <a:t>AEONPay</a:t>
                      </a:r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AEON Pay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085417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WAON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000" dirty="0"/>
                        <a:t>WAON POINT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867601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Tax-Free 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000" dirty="0"/>
                        <a:t>TAXFREE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90288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新業態</a:t>
                      </a:r>
                      <a:endParaRPr kumimoji="1" lang="en-US" altLang="ja-JP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/>
                        <a:t>無し</a:t>
                      </a:r>
                      <a:r>
                        <a:rPr kumimoji="1" lang="en-US" altLang="ja-JP" sz="1000" dirty="0"/>
                        <a:t>)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067532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地元企業</a:t>
                      </a:r>
                      <a:endParaRPr kumimoji="1" lang="en-US" altLang="ja-JP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地元企業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438840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埼玉県初</a:t>
                      </a:r>
                      <a:endParaRPr kumimoji="1" lang="en-US" altLang="ja-JP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/>
                        <a:t>無し</a:t>
                      </a:r>
                      <a:r>
                        <a:rPr kumimoji="1" lang="en-US" altLang="ja-JP" sz="1000" dirty="0"/>
                        <a:t>)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348157"/>
                  </a:ext>
                </a:extLst>
              </a:tr>
            </a:tbl>
          </a:graphicData>
        </a:graphic>
      </p:graphicFrame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7531520A-2947-8328-36EF-DAF871A87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372067"/>
              </p:ext>
            </p:extLst>
          </p:nvPr>
        </p:nvGraphicFramePr>
        <p:xfrm>
          <a:off x="4035782" y="1635074"/>
          <a:ext cx="1927881" cy="1616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854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976027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三光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旧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新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キッズ関連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キッズ関連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WAON POINT</a:t>
                      </a:r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000" dirty="0"/>
                        <a:t>WAON POINT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 err="1"/>
                        <a:t>AEONPay</a:t>
                      </a:r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AEON Pay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テイクアウト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000" dirty="0"/>
                        <a:t>Takeout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</a:tbl>
          </a:graphicData>
        </a:graphic>
      </p:graphicFrame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0117BE1A-FB9F-2AB1-D104-85EF3D9F9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775210"/>
              </p:ext>
            </p:extLst>
          </p:nvPr>
        </p:nvGraphicFramePr>
        <p:xfrm>
          <a:off x="6027248" y="1635074"/>
          <a:ext cx="1927881" cy="374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772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995109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千葉ニュータウン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旧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新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キッズ関連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キッズ関連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 err="1"/>
                        <a:t>AEONPay</a:t>
                      </a:r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AEON Pay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AEON Pay</a:t>
                      </a:r>
                      <a:r>
                        <a:rPr kumimoji="1" lang="ja-JP" altLang="en-US" sz="1000"/>
                        <a:t>チャージ払い・ポイント充当払い不可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/>
                        <a:t>無し</a:t>
                      </a:r>
                      <a:r>
                        <a:rPr kumimoji="1" lang="en-US" altLang="ja-JP" sz="1000" dirty="0"/>
                        <a:t>)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お客さま感謝デー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感謝デー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シネマ</a:t>
                      </a:r>
                      <a:r>
                        <a:rPr kumimoji="1" lang="en-US" altLang="ja-JP" sz="1000" dirty="0"/>
                        <a:t>de</a:t>
                      </a:r>
                      <a:r>
                        <a:rPr kumimoji="1" lang="ja-JP" altLang="en-US" sz="1000"/>
                        <a:t>サービス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シネマ</a:t>
                      </a:r>
                      <a:r>
                        <a:rPr kumimoji="1" lang="en" altLang="ja-JP" sz="1000" dirty="0"/>
                        <a:t>de</a:t>
                      </a:r>
                      <a:r>
                        <a:rPr kumimoji="1" lang="ja-JP" altLang="en-US" sz="1000"/>
                        <a:t>おとく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085417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WAON</a:t>
                      </a:r>
                      <a:r>
                        <a:rPr kumimoji="1" lang="ja-JP" altLang="en-US" sz="1000"/>
                        <a:t> </a:t>
                      </a:r>
                      <a:r>
                        <a:rPr kumimoji="1" lang="en-US" altLang="ja-JP" sz="1000" dirty="0"/>
                        <a:t>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000" dirty="0"/>
                        <a:t>WAON POINT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867601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ポイントいつでも</a:t>
                      </a:r>
                      <a:r>
                        <a:rPr kumimoji="1" lang="en-US" altLang="ja-JP" sz="1000" dirty="0"/>
                        <a:t>2</a:t>
                      </a:r>
                      <a:r>
                        <a:rPr kumimoji="1" lang="ja-JP" altLang="en-US" sz="1000"/>
                        <a:t>倍</a:t>
                      </a:r>
                      <a:endParaRPr kumimoji="1" lang="en-US" altLang="ja-JP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/>
                        <a:t>無し</a:t>
                      </a:r>
                      <a:r>
                        <a:rPr kumimoji="1" lang="en-US" altLang="ja-JP" sz="1000" dirty="0"/>
                        <a:t>)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90288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Uber 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000" dirty="0"/>
                        <a:t>Uber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067532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出前館</a:t>
                      </a:r>
                      <a:endParaRPr kumimoji="1" lang="en-US" altLang="ja-JP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/>
                        <a:t>無し</a:t>
                      </a:r>
                      <a:r>
                        <a:rPr kumimoji="1" lang="en-US" altLang="ja-JP" sz="1000" dirty="0"/>
                        <a:t>)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438840"/>
                  </a:ext>
                </a:extLst>
              </a:tr>
            </a:tbl>
          </a:graphicData>
        </a:graphic>
      </p:graphicFrame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45295B54-3466-BF88-57D5-2CA3FA708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473246"/>
              </p:ext>
            </p:extLst>
          </p:nvPr>
        </p:nvGraphicFramePr>
        <p:xfrm>
          <a:off x="8019249" y="1635074"/>
          <a:ext cx="1966655" cy="3109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496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1008159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むさし村山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旧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新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Aeon Pay</a:t>
                      </a:r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AEON Pay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NEW SHOP</a:t>
                      </a:r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/>
                        <a:t>無し</a:t>
                      </a:r>
                      <a:r>
                        <a:rPr kumimoji="1" lang="en-US" altLang="ja-JP" sz="1000" dirty="0"/>
                        <a:t>)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WAON POINT</a:t>
                      </a:r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000" dirty="0"/>
                        <a:t>WAON POINT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キッズ関連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キッズ関連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 err="1"/>
                        <a:t>paypay</a:t>
                      </a:r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000" dirty="0" err="1"/>
                        <a:t>PayPay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085417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イオンペイチャージ払い・</a:t>
                      </a:r>
                      <a:r>
                        <a:rPr kumimoji="1" lang="en-US" altLang="ja-JP" sz="1000" dirty="0"/>
                        <a:t>WAON</a:t>
                      </a:r>
                      <a:r>
                        <a:rPr kumimoji="1" lang="ja-JP" altLang="en-US" sz="1000"/>
                        <a:t>ポイント充当払い利用不可</a:t>
                      </a:r>
                      <a:endParaRPr kumimoji="1" lang="en-US" altLang="ja-JP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/>
                        <a:t>無し</a:t>
                      </a:r>
                      <a:r>
                        <a:rPr kumimoji="1" lang="en-US" altLang="ja-JP" sz="1000" dirty="0"/>
                        <a:t>)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867601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モバイルオーダー</a:t>
                      </a:r>
                      <a:endParaRPr kumimoji="1" lang="en-US" altLang="ja-JP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/>
                        <a:t>無し</a:t>
                      </a:r>
                      <a:r>
                        <a:rPr kumimoji="1" lang="en-US" altLang="ja-JP" sz="1000" dirty="0"/>
                        <a:t>)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902885"/>
                  </a:ext>
                </a:extLst>
              </a:tr>
            </a:tbl>
          </a:graphicData>
        </a:graphic>
      </p:graphicFrame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631732B7-946B-169D-5F1C-CC8F5778F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027551"/>
              </p:ext>
            </p:extLst>
          </p:nvPr>
        </p:nvGraphicFramePr>
        <p:xfrm>
          <a:off x="10061302" y="1635074"/>
          <a:ext cx="1966655" cy="2652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397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1002258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上尾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旧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/>
                        <a:t>新</a:t>
                      </a:r>
                      <a:r>
                        <a:rPr kumimoji="1" lang="en-US" altLang="ja-JP" sz="1000" b="1" dirty="0"/>
                        <a:t>CMS</a:t>
                      </a:r>
                      <a:endParaRPr kumimoji="1" lang="ja-JP" altLang="en-US" sz="10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テイクアウト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000" dirty="0"/>
                        <a:t>Takeout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デリバリー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/>
                        <a:t>無し</a:t>
                      </a:r>
                      <a:r>
                        <a:rPr kumimoji="1" lang="en-US" altLang="ja-JP" sz="1000" dirty="0"/>
                        <a:t>)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WAON POINT</a:t>
                      </a:r>
                      <a:r>
                        <a:rPr kumimoji="1" lang="ja-JP" altLang="en-US" sz="1000"/>
                        <a:t>利用可能店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000" dirty="0"/>
                        <a:t>WAON POINT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イオンペイ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AEON Pay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 err="1"/>
                        <a:t>PayPay</a:t>
                      </a:r>
                      <a:endParaRPr kumimoji="1" lang="ja-JP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000" dirty="0" err="1"/>
                        <a:t>PayPay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085417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キッズ関連</a:t>
                      </a:r>
                      <a:endParaRPr kumimoji="1" lang="en-US" altLang="ja-JP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/>
                        <a:t>キッズ関連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867601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Tax-Free 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000" dirty="0"/>
                        <a:t>TAXFREE</a:t>
                      </a:r>
                      <a:endParaRPr kumimoji="1" lang="ja-JP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902885"/>
                  </a:ext>
                </a:extLst>
              </a:tr>
            </a:tbl>
          </a:graphicData>
        </a:graphic>
      </p:graphicFrame>
      <p:sp>
        <p:nvSpPr>
          <p:cNvPr id="6" name="タイトル 1">
            <a:extLst>
              <a:ext uri="{FF2B5EF4-FFF2-40B4-BE49-F238E27FC236}">
                <a16:creationId xmlns:a16="http://schemas.microsoft.com/office/drawing/2014/main" id="{A0EE8246-410C-76B7-67B2-67BB880AF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326" y="6306309"/>
            <a:ext cx="11449306" cy="431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45718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  <a:cs typeface="+mn-cs"/>
              </a:defRPr>
            </a:lvl6pPr>
            <a:lvl7pPr marL="91437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  <a:cs typeface="+mn-cs"/>
              </a:defRPr>
            </a:lvl7pPr>
            <a:lvl8pPr marL="137156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  <a:cs typeface="+mn-cs"/>
              </a:defRPr>
            </a:lvl8pPr>
            <a:lvl9pPr marL="182875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  <a:cs typeface="+mn-cs"/>
              </a:defRPr>
            </a:lvl9pPr>
          </a:lstStyle>
          <a:p>
            <a:r>
              <a:rPr lang="en-US" altLang="ja-JP" sz="1100" kern="0" dirty="0">
                <a:latin typeface="Meiryo UI"/>
                <a:ea typeface="Meiryo UI"/>
              </a:rPr>
              <a:t>※旧CMSから新CMSへショップ情報を移行した後、オプションは未設定状態となるため、各モール担当者が各テナントのオプションを設定する</a:t>
            </a:r>
            <a:endParaRPr lang="en-US" altLang="ja-JP" sz="1100" kern="0" dirty="0"/>
          </a:p>
        </p:txBody>
      </p:sp>
    </p:spTree>
    <p:extLst>
      <p:ext uri="{BB962C8B-B14F-4D97-AF65-F5344CB8AC3E}">
        <p14:creationId xmlns:p14="http://schemas.microsoft.com/office/powerpoint/2010/main" val="2641996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26D17-C129-2377-74EC-9B254D958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>
            <a:extLst>
              <a:ext uri="{FF2B5EF4-FFF2-40B4-BE49-F238E27FC236}">
                <a16:creationId xmlns:a16="http://schemas.microsoft.com/office/drawing/2014/main" id="{198E2F32-CC94-05C2-5357-9EE8EFBFA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dirty="0"/>
              <a:t>③</a:t>
            </a:r>
            <a:r>
              <a:rPr lang="ja-JP" altLang="en-US"/>
              <a:t>イベントニュースカテゴリの</a:t>
            </a:r>
            <a:r>
              <a:rPr lang="ja-JP" altLang="en-US" dirty="0"/>
              <a:t>変更・統一</a:t>
            </a:r>
          </a:p>
        </p:txBody>
      </p:sp>
      <p:sp>
        <p:nvSpPr>
          <p:cNvPr id="6148" name="スライド番号プレースホルダー 3">
            <a:extLst>
              <a:ext uri="{FF2B5EF4-FFF2-40B4-BE49-F238E27FC236}">
                <a16:creationId xmlns:a16="http://schemas.microsoft.com/office/drawing/2014/main" id="{BB04E2C1-3836-9B6F-5241-5B33CD8909E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ABF78BA-0DBB-4932-9A16-FCDC448B537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0F9AE93-4EB3-8770-8903-A72B77BBD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326" y="1029054"/>
            <a:ext cx="11449306" cy="431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  <a:lvl6pPr marL="45718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9143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marL="285750" indent="-285750">
              <a:buFont typeface="Wingdings" pitchFamily="2" charset="2"/>
              <a:buChar char="l"/>
            </a:pPr>
            <a:r>
              <a:rPr lang="ja-JP" altLang="en-US" sz="1600" kern="0"/>
              <a:t>ヒアリング済みの外部連携先では、参照のみ、もしくは使用しておらず影響がないため、記載省略</a:t>
            </a:r>
            <a:endParaRPr lang="en-US" altLang="ja-JP" sz="1600" kern="0" dirty="0"/>
          </a:p>
        </p:txBody>
      </p:sp>
    </p:spTree>
    <p:extLst>
      <p:ext uri="{BB962C8B-B14F-4D97-AF65-F5344CB8AC3E}">
        <p14:creationId xmlns:p14="http://schemas.microsoft.com/office/powerpoint/2010/main" val="4294466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FC872-C801-DBE6-1D66-F3A4777A4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>
            <a:extLst>
              <a:ext uri="{FF2B5EF4-FFF2-40B4-BE49-F238E27FC236}">
                <a16:creationId xmlns:a16="http://schemas.microsoft.com/office/drawing/2014/main" id="{F7D33B61-2F51-CAE4-F2AF-D7FC7CE9F2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dirty="0"/>
              <a:t>④</a:t>
            </a:r>
            <a:r>
              <a:rPr lang="ja-JP" altLang="en-US"/>
              <a:t>ショップニュースカテゴリの</a:t>
            </a:r>
            <a:r>
              <a:rPr lang="ja-JP" altLang="en-US" dirty="0"/>
              <a:t>変更・統一</a:t>
            </a:r>
          </a:p>
        </p:txBody>
      </p:sp>
      <p:sp>
        <p:nvSpPr>
          <p:cNvPr id="6148" name="スライド番号プレースホルダー 3">
            <a:extLst>
              <a:ext uri="{FF2B5EF4-FFF2-40B4-BE49-F238E27FC236}">
                <a16:creationId xmlns:a16="http://schemas.microsoft.com/office/drawing/2014/main" id="{F98B5F3A-2FAB-50B1-B5EA-1BD33A1A381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ABF78BA-0DBB-4932-9A16-FCDC448B537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9EDC8FA-BA17-E78E-F392-04A998EA3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326" y="1029054"/>
            <a:ext cx="11449306" cy="431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  <a:lvl6pPr marL="45718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9143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marL="285750" indent="-285750">
              <a:buFont typeface="Wingdings" pitchFamily="2" charset="2"/>
              <a:buChar char="l"/>
            </a:pPr>
            <a:r>
              <a:rPr lang="ja-JP" altLang="en-US" sz="1600" kern="0"/>
              <a:t>ヒアリング済みの外部連携先では、参照のみ、もしくは使用しておらず影響がないため、記載省略</a:t>
            </a:r>
            <a:endParaRPr lang="en-US" altLang="ja-JP" sz="1600" kern="0" dirty="0"/>
          </a:p>
        </p:txBody>
      </p:sp>
    </p:spTree>
    <p:extLst>
      <p:ext uri="{BB962C8B-B14F-4D97-AF65-F5344CB8AC3E}">
        <p14:creationId xmlns:p14="http://schemas.microsoft.com/office/powerpoint/2010/main" val="1334911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C3602-767D-C3F0-EBCE-926565EB4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>
            <a:extLst>
              <a:ext uri="{FF2B5EF4-FFF2-40B4-BE49-F238E27FC236}">
                <a16:creationId xmlns:a16="http://schemas.microsoft.com/office/drawing/2014/main" id="{0006E596-FB88-357E-F622-21E6C8B3B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dirty="0"/>
              <a:t>⑤</a:t>
            </a:r>
            <a:r>
              <a:rPr lang="ja-JP" altLang="en-US"/>
              <a:t>モールエリア</a:t>
            </a:r>
            <a:r>
              <a:rPr lang="ja-JP" altLang="en-US" dirty="0"/>
              <a:t>の変更はなし</a:t>
            </a:r>
          </a:p>
        </p:txBody>
      </p:sp>
      <p:sp>
        <p:nvSpPr>
          <p:cNvPr id="6148" name="スライド番号プレースホルダー 3">
            <a:extLst>
              <a:ext uri="{FF2B5EF4-FFF2-40B4-BE49-F238E27FC236}">
                <a16:creationId xmlns:a16="http://schemas.microsoft.com/office/drawing/2014/main" id="{A597FC83-E850-0529-CCF9-05AE1A239DF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ABF78BA-0DBB-4932-9A16-FCDC448B537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B62A9ABD-BE61-8C15-DF56-EE2BDDB42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326" y="1029054"/>
            <a:ext cx="11449306" cy="581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  <a:lvl6pPr marL="45718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9143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marL="285750" indent="-285750">
              <a:buFont typeface="Wingdings" pitchFamily="2" charset="2"/>
              <a:buChar char="l"/>
            </a:pPr>
            <a:r>
              <a:rPr lang="ja-JP" altLang="en-US" sz="1600" kern="0"/>
              <a:t>エリア、サブエリア、サブサブエリアについては現行通り出力される</a:t>
            </a:r>
            <a:r>
              <a:rPr lang="en-US" altLang="ja-JP" sz="1600" kern="0" dirty="0"/>
              <a:t>(</a:t>
            </a:r>
            <a:r>
              <a:rPr lang="ja-JP" altLang="en-US" sz="1600" kern="0"/>
              <a:t>現行のエリア情報のまま移行する予定</a:t>
            </a:r>
            <a:r>
              <a:rPr lang="en-US" altLang="ja-JP" sz="1600" kern="0" dirty="0"/>
              <a:t>)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ja-JP" altLang="en-US" sz="1600" kern="0"/>
              <a:t>以下に先行切替モールの出力例を記載</a:t>
            </a:r>
            <a:endParaRPr lang="en-US" altLang="ja-JP" sz="1600" kern="0" dirty="0"/>
          </a:p>
        </p:txBody>
      </p:sp>
      <p:graphicFrame>
        <p:nvGraphicFramePr>
          <p:cNvPr id="20" name="表 19">
            <a:extLst>
              <a:ext uri="{FF2B5EF4-FFF2-40B4-BE49-F238E27FC236}">
                <a16:creationId xmlns:a16="http://schemas.microsoft.com/office/drawing/2014/main" id="{F7D2341B-F3E8-8BBD-F76F-5DA951CCC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809085"/>
              </p:ext>
            </p:extLst>
          </p:nvPr>
        </p:nvGraphicFramePr>
        <p:xfrm>
          <a:off x="231054" y="1714146"/>
          <a:ext cx="266102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511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1330511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多摩平の森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en-US" altLang="ja-JP" sz="1200" b="1" dirty="0"/>
                        <a:t>area</a:t>
                      </a:r>
                      <a:endParaRPr kumimoji="1" lang="ja-JP" altLang="en-US" sz="12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1" dirty="0" err="1"/>
                        <a:t>areaSub</a:t>
                      </a:r>
                      <a:endParaRPr kumimoji="1" lang="ja-JP" altLang="en-US" sz="12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カフェ＆フード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レストラン街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森のキッチンコート（フードコート）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グランマルシェ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</a:tbl>
          </a:graphicData>
        </a:graphic>
      </p:graphicFrame>
      <p:graphicFrame>
        <p:nvGraphicFramePr>
          <p:cNvPr id="21" name="表 20">
            <a:extLst>
              <a:ext uri="{FF2B5EF4-FFF2-40B4-BE49-F238E27FC236}">
                <a16:creationId xmlns:a16="http://schemas.microsoft.com/office/drawing/2014/main" id="{C6579BBF-F363-10B1-9936-F8A85E1FB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44073"/>
              </p:ext>
            </p:extLst>
          </p:nvPr>
        </p:nvGraphicFramePr>
        <p:xfrm>
          <a:off x="8593346" y="1739281"/>
          <a:ext cx="337732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231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1730097">
                  <a:extLst>
                    <a:ext uri="{9D8B030D-6E8A-4147-A177-3AD203B41FA5}">
                      <a16:colId xmlns:a16="http://schemas.microsoft.com/office/drawing/2014/main" val="409119885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幕張新都心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en-US" altLang="ja-JP" sz="1200" b="1" dirty="0"/>
                        <a:t>area</a:t>
                      </a:r>
                      <a:endParaRPr kumimoji="1" lang="ja-JP" altLang="en-US" sz="12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1" dirty="0" err="1"/>
                        <a:t>areaSub</a:t>
                      </a:r>
                      <a:endParaRPr kumimoji="1" lang="ja-JP" altLang="en-US" sz="12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グランドモール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ときマルシェ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GRAND DINERS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LIVE KITCHEN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175678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イオンモールライブステージ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69410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ATM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299789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エキマエモール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794219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ごちそうパーク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790382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ATM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638289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アクティブモール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842509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メガスポーツ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872684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ペットモール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784996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PETEMO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439913"/>
                  </a:ext>
                </a:extLst>
              </a:tr>
            </a:tbl>
          </a:graphicData>
        </a:graphic>
      </p:graphicFrame>
      <p:graphicFrame>
        <p:nvGraphicFramePr>
          <p:cNvPr id="23" name="表 22">
            <a:extLst>
              <a:ext uri="{FF2B5EF4-FFF2-40B4-BE49-F238E27FC236}">
                <a16:creationId xmlns:a16="http://schemas.microsoft.com/office/drawing/2014/main" id="{F1246BE2-2CBE-140B-4CBD-7666E1810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737715"/>
              </p:ext>
            </p:extLst>
          </p:nvPr>
        </p:nvGraphicFramePr>
        <p:xfrm>
          <a:off x="2992574" y="1714146"/>
          <a:ext cx="266102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511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1330511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川口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en-US" altLang="ja-JP" sz="1200" b="1" dirty="0"/>
                        <a:t>area</a:t>
                      </a:r>
                      <a:endParaRPr kumimoji="1" lang="ja-JP" altLang="en-US" sz="12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1" dirty="0" err="1"/>
                        <a:t>areaSub</a:t>
                      </a:r>
                      <a:endParaRPr kumimoji="1" lang="ja-JP" altLang="en-US" sz="12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" altLang="ja-JP" sz="1200" dirty="0"/>
                        <a:t>FOOD FOREST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" altLang="ja-JP" sz="1200"/>
                        <a:t>HILLS DINER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" altLang="ja-JP" sz="1200" dirty="0"/>
                        <a:t>Hills Kitchen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  <a:p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</a:tbl>
          </a:graphicData>
        </a:graphic>
      </p:graphicFrame>
      <p:graphicFrame>
        <p:nvGraphicFramePr>
          <p:cNvPr id="24" name="表 23">
            <a:extLst>
              <a:ext uri="{FF2B5EF4-FFF2-40B4-BE49-F238E27FC236}">
                <a16:creationId xmlns:a16="http://schemas.microsoft.com/office/drawing/2014/main" id="{920B090B-BCF7-D891-3905-9B9936655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3563"/>
              </p:ext>
            </p:extLst>
          </p:nvPr>
        </p:nvGraphicFramePr>
        <p:xfrm>
          <a:off x="5754094" y="1738640"/>
          <a:ext cx="2661022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511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1330511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三光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en-US" altLang="ja-JP" sz="1200" b="1" dirty="0"/>
                        <a:t>area</a:t>
                      </a:r>
                      <a:endParaRPr kumimoji="1" lang="ja-JP" altLang="en-US" sz="12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1" dirty="0" err="1"/>
                        <a:t>areaSub</a:t>
                      </a:r>
                      <a:endParaRPr kumimoji="1" lang="ja-JP" altLang="en-US" sz="12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</a:tbl>
          </a:graphicData>
        </a:graphic>
      </p:graphicFrame>
      <p:graphicFrame>
        <p:nvGraphicFramePr>
          <p:cNvPr id="25" name="表 24">
            <a:extLst>
              <a:ext uri="{FF2B5EF4-FFF2-40B4-BE49-F238E27FC236}">
                <a16:creationId xmlns:a16="http://schemas.microsoft.com/office/drawing/2014/main" id="{B2B4C2B8-4C80-ECC3-7C06-0DC0492238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688118"/>
              </p:ext>
            </p:extLst>
          </p:nvPr>
        </p:nvGraphicFramePr>
        <p:xfrm>
          <a:off x="211598" y="3796040"/>
          <a:ext cx="266102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511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1330511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千葉ニュータウン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en-US" altLang="ja-JP" sz="1200" b="1" dirty="0"/>
                        <a:t>area</a:t>
                      </a:r>
                      <a:endParaRPr kumimoji="1" lang="ja-JP" altLang="en-US" sz="12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1" dirty="0" err="1"/>
                        <a:t>areaSub</a:t>
                      </a:r>
                      <a:endParaRPr kumimoji="1" lang="ja-JP" altLang="en-US" sz="12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モール棟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イオン棟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エンジョイライフ棟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シネマ・スポーツ棟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</a:tbl>
          </a:graphicData>
        </a:graphic>
      </p:graphicFrame>
      <p:graphicFrame>
        <p:nvGraphicFramePr>
          <p:cNvPr id="26" name="表 25">
            <a:extLst>
              <a:ext uri="{FF2B5EF4-FFF2-40B4-BE49-F238E27FC236}">
                <a16:creationId xmlns:a16="http://schemas.microsoft.com/office/drawing/2014/main" id="{F4FB3760-ACD4-75DC-5E13-15337F1A2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983597"/>
              </p:ext>
            </p:extLst>
          </p:nvPr>
        </p:nvGraphicFramePr>
        <p:xfrm>
          <a:off x="2973118" y="3796040"/>
          <a:ext cx="266102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511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1330511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むさし村山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en-US" altLang="ja-JP" sz="1200" b="1" dirty="0"/>
                        <a:t>area</a:t>
                      </a:r>
                      <a:endParaRPr kumimoji="1" lang="ja-JP" altLang="en-US" sz="12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1" dirty="0" err="1"/>
                        <a:t>areaSub</a:t>
                      </a:r>
                      <a:endParaRPr kumimoji="1" lang="ja-JP" altLang="en-US" sz="12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レストラン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フードフォレスト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つむぐマルシェ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つむぐひろば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</a:tbl>
          </a:graphicData>
        </a:graphic>
      </p:graphicFrame>
      <p:graphicFrame>
        <p:nvGraphicFramePr>
          <p:cNvPr id="27" name="表 26">
            <a:extLst>
              <a:ext uri="{FF2B5EF4-FFF2-40B4-BE49-F238E27FC236}">
                <a16:creationId xmlns:a16="http://schemas.microsoft.com/office/drawing/2014/main" id="{A94535F9-02A8-9FE6-C99C-1C6A97BB2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022652"/>
              </p:ext>
            </p:extLst>
          </p:nvPr>
        </p:nvGraphicFramePr>
        <p:xfrm>
          <a:off x="5734638" y="3796040"/>
          <a:ext cx="266102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511">
                  <a:extLst>
                    <a:ext uri="{9D8B030D-6E8A-4147-A177-3AD203B41FA5}">
                      <a16:colId xmlns:a16="http://schemas.microsoft.com/office/drawing/2014/main" val="1500210889"/>
                    </a:ext>
                  </a:extLst>
                </a:gridCol>
                <a:gridCol w="1330511">
                  <a:extLst>
                    <a:ext uri="{9D8B030D-6E8A-4147-A177-3AD203B41FA5}">
                      <a16:colId xmlns:a16="http://schemas.microsoft.com/office/drawing/2014/main" val="2332779919"/>
                    </a:ext>
                  </a:extLst>
                </a:gridCol>
              </a:tblGrid>
              <a:tr h="16383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上尾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97778"/>
                  </a:ext>
                </a:extLst>
              </a:tr>
              <a:tr h="244688">
                <a:tc>
                  <a:txBody>
                    <a:bodyPr/>
                    <a:lstStyle/>
                    <a:p>
                      <a:r>
                        <a:rPr kumimoji="1" lang="en-US" altLang="ja-JP" sz="1200" b="1" dirty="0"/>
                        <a:t>area</a:t>
                      </a:r>
                      <a:endParaRPr kumimoji="1" lang="ja-JP" altLang="en-US" sz="12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1" dirty="0" err="1"/>
                        <a:t>areaSub</a:t>
                      </a:r>
                      <a:endParaRPr kumimoji="1" lang="ja-JP" altLang="en-US" sz="1200" b="1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307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あげおマルシェ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746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あげおダイニング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2043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" altLang="ja-JP" sz="1200" dirty="0"/>
                        <a:t>Food Forest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03545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" altLang="ja-JP" sz="1200" dirty="0"/>
                        <a:t>Health</a:t>
                      </a:r>
                      <a:r>
                        <a:rPr kumimoji="1" lang="ja-JP" altLang="en" sz="1200"/>
                        <a:t>＆</a:t>
                      </a:r>
                      <a:r>
                        <a:rPr kumimoji="1" lang="en" altLang="ja-JP" sz="1200" dirty="0" err="1"/>
                        <a:t>LifeStation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641623"/>
                  </a:ext>
                </a:extLst>
              </a:tr>
              <a:tr h="221474">
                <a:tc>
                  <a:txBody>
                    <a:bodyPr/>
                    <a:lstStyle/>
                    <a:p>
                      <a:r>
                        <a:rPr kumimoji="1" lang="en" altLang="ja-JP" sz="1200" dirty="0"/>
                        <a:t>Park of Tables</a:t>
                      </a:r>
                      <a:endParaRPr kumimoji="1" lang="ja-JP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/>
                        <a:t>無し</a:t>
                      </a:r>
                      <a:r>
                        <a:rPr kumimoji="1" lang="en-US" altLang="ja-JP" sz="1200" dirty="0"/>
                        <a:t>)</a:t>
                      </a:r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977433"/>
                  </a:ext>
                </a:extLst>
              </a:tr>
            </a:tbl>
          </a:graphicData>
        </a:graphic>
      </p:graphicFrame>
      <p:sp>
        <p:nvSpPr>
          <p:cNvPr id="28" name="四角形吹き出し 27">
            <a:extLst>
              <a:ext uri="{FF2B5EF4-FFF2-40B4-BE49-F238E27FC236}">
                <a16:creationId xmlns:a16="http://schemas.microsoft.com/office/drawing/2014/main" id="{C4BD73ED-998F-C4D4-E9AB-F9E063FF56B6}"/>
              </a:ext>
            </a:extLst>
          </p:cNvPr>
          <p:cNvSpPr/>
          <p:nvPr/>
        </p:nvSpPr>
        <p:spPr>
          <a:xfrm>
            <a:off x="8909331" y="525981"/>
            <a:ext cx="2142003" cy="868125"/>
          </a:xfrm>
          <a:prstGeom prst="wedgeRectCallout">
            <a:avLst>
              <a:gd name="adj1" fmla="val -17137"/>
              <a:gd name="adj2" fmla="val 78184"/>
            </a:avLst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400"/>
              <a:t>参考</a:t>
            </a:r>
            <a:r>
              <a:rPr lang="en-US" altLang="ja-JP" sz="1400" dirty="0"/>
              <a:t>)</a:t>
            </a:r>
            <a:r>
              <a:rPr kumimoji="1" lang="ja-JP" altLang="en-US" sz="1400"/>
              <a:t>サブエリアがあるモールの</a:t>
            </a:r>
            <a:r>
              <a:rPr lang="ja-JP" altLang="en-US" sz="1400"/>
              <a:t>場合、新</a:t>
            </a:r>
            <a:r>
              <a:rPr lang="en-US" altLang="ja-JP" sz="1400" dirty="0"/>
              <a:t>CMS</a:t>
            </a:r>
            <a:r>
              <a:rPr lang="ja-JP" altLang="en-US" sz="1400"/>
              <a:t>では階層構造として保持</a:t>
            </a:r>
            <a:endParaRPr kumimoji="1" lang="ja-JP" altLang="en-US" sz="1400" dirty="0"/>
          </a:p>
        </p:txBody>
      </p:sp>
      <p:sp>
        <p:nvSpPr>
          <p:cNvPr id="2" name="角丸四角形 1">
            <a:extLst>
              <a:ext uri="{FF2B5EF4-FFF2-40B4-BE49-F238E27FC236}">
                <a16:creationId xmlns:a16="http://schemas.microsoft.com/office/drawing/2014/main" id="{4B9CF7EC-8CB8-97CE-4DEE-33361FF7AD7C}"/>
              </a:ext>
            </a:extLst>
          </p:cNvPr>
          <p:cNvSpPr/>
          <p:nvPr/>
        </p:nvSpPr>
        <p:spPr>
          <a:xfrm>
            <a:off x="8522124" y="1610139"/>
            <a:ext cx="3526374" cy="4382099"/>
          </a:xfrm>
          <a:prstGeom prst="roundRect">
            <a:avLst>
              <a:gd name="adj" fmla="val 3249"/>
            </a:avLst>
          </a:prstGeom>
          <a:noFill/>
          <a:ln w="25400">
            <a:solidFill>
              <a:srgbClr val="FFC000"/>
            </a:solidFill>
            <a:prstDash val="sysDot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49882279"/>
      </p:ext>
    </p:extLst>
  </p:cSld>
  <p:clrMapOvr>
    <a:masterClrMapping/>
  </p:clrMapOvr>
</p:sld>
</file>

<file path=ppt/theme/theme1.xml><?xml version="1.0" encoding="utf-8"?>
<a:theme xmlns:a="http://schemas.openxmlformats.org/drawingml/2006/main" name="テンプレート2_all">
  <a:themeElements>
    <a:clrScheme name="テンプレート2_al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smtClean="0"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50" charset="-128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sz="1600" b="0" dirty="0" smtClean="0"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</a:txDef>
  </a:objectDefaults>
  <a:extraClrSchemeLst>
    <a:extraClrScheme>
      <a:clrScheme name="テンプレート2_al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テンプレート2_al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テンプレート2_al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テンプレート2_al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テンプレート2_al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テンプレート2_al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テンプレート2_al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テンプレート2_al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テンプレート2_al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テンプレート2_al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テンプレート2_al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テンプレート2_al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テンプレートnew16_9.potx" id="{BF8F21BE-83D2-4843-858D-F4B960FFDC0D}" vid="{F040F320-2B50-49B8-B6E7-10BF39B8B6C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89f7ae12-8e02-4c84-b78e-5276bd0aa620">FWAD66NSMAFM-1558959963-1692</_dlc_DocId>
    <_dlc_DocIdUrl xmlns="89f7ae12-8e02-4c84-b78e-5276bd0aa620">
      <Url>https://aeonmall.sharepoint.com/sites/01048/_layouts/15/DocIdRedir.aspx?ID=FWAD66NSMAFM-1558959963-1692</Url>
      <Description>FWAD66NSMAFM-1558959963-1692</Description>
    </_dlc_DocIdUrl>
    <lcf76f155ced4ddcb4097134ff3c332f xmlns="c432f6c7-bdb8-44c7-9d54-41b8fc36ab7e">
      <Terms xmlns="http://schemas.microsoft.com/office/infopath/2007/PartnerControls"/>
    </lcf76f155ced4ddcb4097134ff3c332f>
    <TaxCatchAll xmlns="89f7ae12-8e02-4c84-b78e-5276bd0aa62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B01EBCCC7E4704389CE0C932F0B2373" ma:contentTypeVersion="12" ma:contentTypeDescription="新しいドキュメントを作成します。" ma:contentTypeScope="" ma:versionID="f81f10c57b9c1d18ef6e9d1b7b10bdce">
  <xsd:schema xmlns:xsd="http://www.w3.org/2001/XMLSchema" xmlns:xs="http://www.w3.org/2001/XMLSchema" xmlns:p="http://schemas.microsoft.com/office/2006/metadata/properties" xmlns:ns2="89f7ae12-8e02-4c84-b78e-5276bd0aa620" xmlns:ns3="c432f6c7-bdb8-44c7-9d54-41b8fc36ab7e" targetNamespace="http://schemas.microsoft.com/office/2006/metadata/properties" ma:root="true" ma:fieldsID="3d07f58e21f5e22394d42f5b2bfa29dc" ns2:_="" ns3:_="">
    <xsd:import namespace="89f7ae12-8e02-4c84-b78e-5276bd0aa620"/>
    <xsd:import namespace="c432f6c7-bdb8-44c7-9d54-41b8fc36ab7e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ae12-8e02-4c84-b78e-5276bd0aa62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ドキュメント ID 値" ma:description="このアイテムに割り当てられているドキュメント ID の値です。" ma:indexed="true" ma:internalName="_dlc_DocId" ma:readOnly="true">
      <xsd:simpleType>
        <xsd:restriction base="dms:Text"/>
      </xsd:simpleType>
    </xsd:element>
    <xsd:element name="_dlc_DocIdUrl" ma:index="9" nillable="true" ma:displayName="ドキュメントID:" ma:description="このドキュメントへの常時接続リンクです。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0" nillable="true" ma:displayName="Taxonomy Catch All Column" ma:hidden="true" ma:list="{84af29d2-2e45-42ea-8c34-a5e1eb9e65c8}" ma:internalName="TaxCatchAll" ma:showField="CatchAllData" ma:web="89f7ae12-8e02-4c84-b78e-5276bd0aa6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2f6c7-bdb8-44c7-9d54-41b8fc36ab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b0c308ae-41ba-40a0-a8c1-24b59ed32e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5311EA6A-346A-45BE-9186-D988C7373926}">
  <ds:schemaRefs>
    <ds:schemaRef ds:uri="http://schemas.microsoft.com/office/2006/metadata/properties"/>
    <ds:schemaRef ds:uri="http://schemas.microsoft.com/office/infopath/2007/PartnerControls"/>
    <ds:schemaRef ds:uri="b3c7b72d-c54d-46c8-b9a8-2095cea32197"/>
    <ds:schemaRef ds:uri="9a46b0e1-1a89-4040-be47-b5969ba72d97"/>
  </ds:schemaRefs>
</ds:datastoreItem>
</file>

<file path=customXml/itemProps2.xml><?xml version="1.0" encoding="utf-8"?>
<ds:datastoreItem xmlns:ds="http://schemas.openxmlformats.org/officeDocument/2006/customXml" ds:itemID="{0870E0BE-B77C-40A4-8553-8CA8CD3F6B50}"/>
</file>

<file path=customXml/itemProps3.xml><?xml version="1.0" encoding="utf-8"?>
<ds:datastoreItem xmlns:ds="http://schemas.openxmlformats.org/officeDocument/2006/customXml" ds:itemID="{BCCC6CC9-CD6E-449A-A381-19DD32015C81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BD74D69E-2D40-4C1C-BE55-E13D592FC7A4}"/>
</file>

<file path=docProps/app.xml><?xml version="1.0" encoding="utf-8"?>
<Properties xmlns="http://schemas.openxmlformats.org/officeDocument/2006/extended-properties" xmlns:vt="http://schemas.openxmlformats.org/officeDocument/2006/docPropsVTypes">
  <Template>テンプレート2_all</Template>
  <TotalTime>2244</TotalTime>
  <Words>1281</Words>
  <Application>Microsoft Office PowerPoint</Application>
  <PresentationFormat>Widescreen</PresentationFormat>
  <Paragraphs>411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テンプレート2_all</vt:lpstr>
      <vt:lpstr>CMS切替におけるXML出力内容の変更点について</vt:lpstr>
      <vt:lpstr>CMS切替におけるXML出力内容の変更点について</vt:lpstr>
      <vt:lpstr>①テナントカテゴリ(旧ショップジャンル)の変更・統一</vt:lpstr>
      <vt:lpstr>①テナントカテゴリ 新・旧出力例</vt:lpstr>
      <vt:lpstr>②オプション(options)の変更・統一</vt:lpstr>
      <vt:lpstr>②オプション(options) 新・旧出力例</vt:lpstr>
      <vt:lpstr>③イベントニュースカテゴリの変更・統一</vt:lpstr>
      <vt:lpstr>④ショップニュースカテゴリの変更・統一</vt:lpstr>
      <vt:lpstr>⑤モールエリアの変更はなし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黒河 俊樹 ＴＨ ＴＮＤ門 ＴＮエリ</dc:creator>
  <cp:lastModifiedBy>正樹 稲吉</cp:lastModifiedBy>
  <cp:revision>59</cp:revision>
  <dcterms:created xsi:type="dcterms:W3CDTF">2025-07-16T01:30:02Z</dcterms:created>
  <dcterms:modified xsi:type="dcterms:W3CDTF">2025-08-21T04:56:06Z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0x0101009B01EBCCC7E4704389CE0C932F0B2373</vt:lpwstr>
  </property>
  <property fmtid="{D5CDD505-2E9C-101B-9397-08002B2CF9AE}" pid="3" name="MediaServiceImageTags">
    <vt:lpwstr/>
  </property>
  <property fmtid="{D5CDD505-2E9C-101B-9397-08002B2CF9AE}" pid="4" name="_dlc_DocIdItemGuid">
    <vt:lpwstr>ff97fb64-7ad7-47b6-bae1-53f32c31b4c2</vt:lpwstr>
  </property>
</Properties>
</file>